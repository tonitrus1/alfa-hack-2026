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078cc2e5874ac7" /><Relationship Type="http://schemas.openxmlformats.org/officeDocument/2006/relationships/extended-properties" Target="/docProps/app.xml" Id="Rb8a287f2df4246a4" /><Relationship Type="http://schemas.openxmlformats.org/officeDocument/2006/relationships/officeDocument" Target="/ppt/presentation.xml" Id="Re331300e3ded4a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dc705f34b44c3f"/>
  </p:sldMasterIdLst>
  <p:notesMasterIdLst>
    <p:notesMasterId xmlns:r="http://schemas.openxmlformats.org/officeDocument/2006/relationships" r:id="R201241d09ab9439c"/>
  </p:notesMasterIdLst>
  <p:sldIdLst>
    <p:sldId xmlns:r="http://schemas.openxmlformats.org/officeDocument/2006/relationships" id="256" r:id="Re4721b5ad53d432e"/>
    <p:sldId xmlns:r="http://schemas.openxmlformats.org/officeDocument/2006/relationships" id="257" r:id="R3eb13c2a5f0a4884"/>
    <p:sldId xmlns:r="http://schemas.openxmlformats.org/officeDocument/2006/relationships" id="258" r:id="R352ff8b8b5ef4868"/>
    <p:sldId xmlns:r="http://schemas.openxmlformats.org/officeDocument/2006/relationships" id="259" r:id="Rd98dfb39faca411b"/>
    <p:sldId xmlns:r="http://schemas.openxmlformats.org/officeDocument/2006/relationships" id="260" r:id="R4c6c23bc09204bcc"/>
    <p:sldId xmlns:r="http://schemas.openxmlformats.org/officeDocument/2006/relationships" id="261" r:id="R74aec7052cef493d"/>
    <p:sldId xmlns:r="http://schemas.openxmlformats.org/officeDocument/2006/relationships" id="262" r:id="R23f02a142ac94b09"/>
    <p:sldId xmlns:r="http://schemas.openxmlformats.org/officeDocument/2006/relationships" id="263" r:id="R16877e2a964e442a"/>
    <p:sldId xmlns:r="http://schemas.openxmlformats.org/officeDocument/2006/relationships" id="264" r:id="R9b45c80bf4a1420a"/>
    <p:sldId xmlns:r="http://schemas.openxmlformats.org/officeDocument/2006/relationships" id="265" r:id="Ra5271bac061b48d5"/>
    <p:sldId xmlns:r="http://schemas.openxmlformats.org/officeDocument/2006/relationships" id="266" r:id="Re2570d7398cc4384"/>
    <p:sldId xmlns:r="http://schemas.openxmlformats.org/officeDocument/2006/relationships" id="267" r:id="Rd184dea465fc47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9caf54aadb40d7" /><Relationship Type="http://schemas.openxmlformats.org/officeDocument/2006/relationships/slideMaster" Target="/ppt/slideMasters/slideMaster1.xml" Id="Rc5dc705f34b44c3f" /><Relationship Type="http://schemas.openxmlformats.org/officeDocument/2006/relationships/notesMaster" Target="/ppt/notesMasters/notesMaster1.xml" Id="R201241d09ab9439c" /><Relationship Type="http://schemas.openxmlformats.org/officeDocument/2006/relationships/presProps" Target="/ppt/presProps.xml" Id="R7c6c7f73957f46ad" /><Relationship Type="http://schemas.openxmlformats.org/officeDocument/2006/relationships/tableStyles" Target="/ppt/tableStyles.xml" Id="R40f88641e29e4ef2" /><Relationship Type="http://schemas.openxmlformats.org/officeDocument/2006/relationships/slide" Target="/ppt/slides/slide1.xml" Id="Re4721b5ad53d432e" /><Relationship Type="http://schemas.openxmlformats.org/officeDocument/2006/relationships/slide" Target="/ppt/slides/slide2.xml" Id="R3eb13c2a5f0a4884" /><Relationship Type="http://schemas.openxmlformats.org/officeDocument/2006/relationships/slide" Target="/ppt/slides/slide3.xml" Id="R352ff8b8b5ef4868" /><Relationship Type="http://schemas.openxmlformats.org/officeDocument/2006/relationships/slide" Target="/ppt/slides/slide4.xml" Id="Rd98dfb39faca411b" /><Relationship Type="http://schemas.openxmlformats.org/officeDocument/2006/relationships/slide" Target="/ppt/slides/slide5.xml" Id="R4c6c23bc09204bcc" /><Relationship Type="http://schemas.openxmlformats.org/officeDocument/2006/relationships/slide" Target="/ppt/slides/slide6.xml" Id="R74aec7052cef493d" /><Relationship Type="http://schemas.openxmlformats.org/officeDocument/2006/relationships/slide" Target="/ppt/slides/slide7.xml" Id="R23f02a142ac94b09" /><Relationship Type="http://schemas.openxmlformats.org/officeDocument/2006/relationships/slide" Target="/ppt/slides/slide8.xml" Id="R16877e2a964e442a" /><Relationship Type="http://schemas.openxmlformats.org/officeDocument/2006/relationships/slide" Target="/ppt/slides/slide9.xml" Id="R9b45c80bf4a1420a" /><Relationship Type="http://schemas.openxmlformats.org/officeDocument/2006/relationships/slide" Target="/ppt/slides/slide10.xml" Id="Ra5271bac061b48d5" /><Relationship Type="http://schemas.openxmlformats.org/officeDocument/2006/relationships/slide" Target="/ppt/slides/slide11.xml" Id="Re2570d7398cc4384" /><Relationship Type="http://schemas.openxmlformats.org/officeDocument/2006/relationships/slide" Target="/ppt/slides/slide12.xml" Id="Rd184dea465fc47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daca63eb89a4a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631df7d47f4829" /><Relationship Type="http://schemas.openxmlformats.org/officeDocument/2006/relationships/notesMaster" Target="/ppt/notesMasters/notesMaster1.xml" Id="Rb8f0b1dd7ef643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6edbceb9584304" /><Relationship Type="http://schemas.openxmlformats.org/officeDocument/2006/relationships/notesMaster" Target="/ppt/notesMasters/notesMaster1.xml" Id="R8014307df25b45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885348b56845e5" /><Relationship Type="http://schemas.openxmlformats.org/officeDocument/2006/relationships/notesMaster" Target="/ppt/notesMasters/notesMaster1.xml" Id="R8d09d80702d949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e12edaaebc4bef" /><Relationship Type="http://schemas.openxmlformats.org/officeDocument/2006/relationships/notesMaster" Target="/ppt/notesMasters/notesMaster1.xml" Id="Rbee2cfac884044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e8e07a43964658" /><Relationship Type="http://schemas.openxmlformats.org/officeDocument/2006/relationships/notesMaster" Target="/ppt/notesMasters/notesMaster1.xml" Id="R09a41f7bba794b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e201519d134701" /><Relationship Type="http://schemas.openxmlformats.org/officeDocument/2006/relationships/notesMaster" Target="/ppt/notesMasters/notesMaster1.xml" Id="R2690739151d843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1adb5156514963" /><Relationship Type="http://schemas.openxmlformats.org/officeDocument/2006/relationships/notesMaster" Target="/ppt/notesMasters/notesMaster1.xml" Id="Rde988123497a49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bdb237d33a47cf" /><Relationship Type="http://schemas.openxmlformats.org/officeDocument/2006/relationships/notesMaster" Target="/ppt/notesMasters/notesMaster1.xml" Id="R07cd9a808b5041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db53326fb048e8" /><Relationship Type="http://schemas.openxmlformats.org/officeDocument/2006/relationships/notesMaster" Target="/ppt/notesMasters/notesMaster1.xml" Id="Re09bc8ed94174b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f7b56baa904ede" /><Relationship Type="http://schemas.openxmlformats.org/officeDocument/2006/relationships/notesMaster" Target="/ppt/notesMasters/notesMaster1.xml" Id="R2543d0cf8b954a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adfa30ee9c4cd1" /><Relationship Type="http://schemas.openxmlformats.org/officeDocument/2006/relationships/notesMaster" Target="/ppt/notesMasters/notesMaster1.xml" Id="R5dab916560014f9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8d3bba67004ea2" /><Relationship Type="http://schemas.openxmlformats.org/officeDocument/2006/relationships/notesMaster" Target="/ppt/notesMasters/notesMaster1.xml" Id="R43b05e93bee342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0:00–0:15. Поток объединяет потребность, документы и кредитное рассмотрение в одном кабинете предпринимателя. Сервис и репозиторий доступны жюри.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README.md; docs/jury/README.md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0:15–0:40. Кейс включает не только анкету: клиент выбирает продукт, готовит данные и должен понимать движение заявки. Банку важно сохранить связность рассмотрения. Мы исходили из этих задач. Подтверждённый CustDev и измеренную экономию времени не заявляем.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Предоставленный кейс, страницы 4–9; docs/jury/requirements.md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0:40–1:00. Клиенту доступны сохранённые данные, статус и следующее действие. Банк получает версии и снимки, отдельные оценку риска и продуктовую политику. Документы, лента и помощник встроены в этот путь.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docs/jury/architecture.md; docs/jury/data-model.md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1:00–1:25. Пользователь выбирает потребность и продукт, вводит сведения и финансы, может добавить документы. После подачи система рассматривает заявку. При запросе уточнения клиент дополняет исходное дело. Принятие предложения и демооформление завершают путь без реальной выдачи.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docs/jury/architecture.md; docs/jury/demo.md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1:25–1:45. Это реальный экран опубликованного сервиса, не макет. Покажем сохранённую заявку и следующий шаг. Ниже располагается персональная подборка материалов. При обновлении страницы данные читаются с backend.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docs/jury/assets/workspace-detail.png, реальный серверный UI 26.10.2026; docs/jury/evidence/live-readonly.json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1:45–2:20. После рассмотрения есть четыре исхода. Одобрение и другие условия открывают предложение. Отказ сопровождается объяснением. MANUAL означает дополнительную проверку, операторский интерфейс относится к развитию. Уточнение данных возвращает заявку на рассмотрение. Итог определяет Java DemoPolicyV1 с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backend/app/src/main/java/ru/alfahack/credit/integration/domain/DemoPolicyV1.java; docs/jury/demo.md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2:20–2:50. Для каждой колонки создаётся новая заявка на оборотный кредит 500 тысяч рублей, срок 12 месяцев, возраст бизнеса 40 месяцев. Предварительную выручку нужно заполнить как в первой строке, иначе может появиться запрос уточнения. Все восемь финансовых полей подтвердить. Документы можно пропустить. Значения в рублях. Одобрение и другие условия требуют доступного Risk. Наборы проверяются отдельно на локальном демо с настоящим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docs/jury/demo-scenarios.json; docs/jury/evidence/local-scenarios.json; docs/jury/demo.md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2:50–3:20. Антивирусная проверка предшествует OCR. Модель предлагает значения, привязанные к источнику и версии файла. Пользователь проверяет период, единицы и все значимые поля. Можно объединить несколько документов и дополнить пропуски вручную. Для live-показа подготовлен только синтетический материал.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docs/jury/architecture.md; docs/jury/assets/financial-form.png; reports/local-qwen3b/ocr-validation.json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3:20–4:00. Лента ранжирует авторские материалы по типизированному профилю и контексту. Ассистент получает права и продукты от backend и использует разрешённые источники. Он не принимает кредитных решений и не меняет заявку. При свежей онлайн-проверке сервер вернул SEARCH_ONLY с источниками: поиск работает, генерация недоступна. Это не выдаётся за полноценный LLM-ответ. Ранее реальная генерация локальной Qwen проверялась отдельно. Research License требует отдельного решения для коммерческого внедрения.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docs/jury/architecture.md; docs/jury/evidence/live-assistant.json; reports/local-qwen3b/validation.json; THIRD_PARTY_NOTICES.md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4:00–5:05. Backend представляет модульный монолит с общей транзакционной базой, ML/OCR/RAG работают отдельно. Сессии и бизнес-события сохраняются в PostgreSQL. Документы лежат в версионированном томе, Qdrant действительно подключён. Стрелка к локальной Qwen описывает поддерживаемый local-профиль, а точный режим модели публичного сервера этим слайдом не утверждается. SearXNG, отдельная ML DB, init/worker процессы показаны в полной документации.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compose.yaml; deploy/compose.local-llm.yaml; docs/jury/architecture.md; docs/jury/deployment.md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5:05–5:45. Это предлагаемый стек, а не уже выполненная миграция. Для LLM кандидат Qwen3-32B с Apache 2.0 через vLLM на GPU: превосходство на наших задачах нужно подтвердить. PostgreSQL подходит банку, поэтому меняем одиночное развёртывание на HA с Patroni и резервированием pgBackRest. ngrok заменяется доменом банка, WAF и управлением сертификатами через cert-manager и PKI банка. HTTPS на текущем демо уже есть. Для доступа Keycloak и MFA, секреты OpenBao. Для документов Ceph S3, для событий Kafka с сохранением outbox, эксплуатация Kubernetes и наблюдаемость. Нужны также рабочее место сотрудника и интеграции БКИ, KYC, АБС и ЭП.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docs/jury/bank-roadmap.md; https://huggingface.co/Qwen/Qwen3-32B; https://patroni.readthedocs.io/en/latest/; https://pgbackrest.org/; https://cert-manager.io/docs/configuration/ca/; https://www.keycloak.org/; https://openbao.org/; https://rook.io/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5:45–6:15. Сервис и исходный код доступны по ссылкам и QR-кодам. На ngrok при первом визите нажмите Visit Site. Две учётные записи предназначены исключительно для синтетической демонстрации, публикация согласована владельцем. Версия к сдаче закреплена тегом. В README есть запуск, проверочные данные и все архитектурные материалы.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docs/jury/demo-access.json; docs/jury/demo.md;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bd50db188442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f3c278f234446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21a868b71e42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b4e1d319b9403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1d3ecbb53649e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5ae6105f534a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00DEE5-BD74-4A89-8053-5C1EF29AAE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AD6B358-9F97-457C-ABBC-56A15FB920A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DF7E414-E10D-461B-964A-1127F54FDD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7ECDFA-52A4-4904-8C6D-165AD06741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F73FFE-09DD-4A00-8A44-BD2C3368A3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39F0F10-CE50-4722-AD04-8EA90451F0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EC4BA17-ADBD-460D-BBE7-4BF98B01F7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0323C60-3969-4115-8AEA-9D325ABABE6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8A161B-3446-413B-B5CA-FBCD6D1129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118C1CF-3B3D-4024-BF01-F894345447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98e716470b4ac3" /><Relationship Type="http://schemas.openxmlformats.org/officeDocument/2006/relationships/slideLayout" Target="/ppt/slideLayouts/slideLayout1.xml" Id="Rbbe99b5e6ba044f8" /><Relationship Type="http://schemas.openxmlformats.org/officeDocument/2006/relationships/slideLayout" Target="/ppt/slideLayouts/slideLayout2.xml" Id="R78eea3557ed442e2" /><Relationship Type="http://schemas.openxmlformats.org/officeDocument/2006/relationships/slideLayout" Target="/ppt/slideLayouts/slideLayout3.xml" Id="Ra6cca055ec044097" /><Relationship Type="http://schemas.openxmlformats.org/officeDocument/2006/relationships/slideLayout" Target="/ppt/slideLayouts/slideLayout4.xml" Id="R74ff589251c748dd" /><Relationship Type="http://schemas.openxmlformats.org/officeDocument/2006/relationships/slideLayout" Target="/ppt/slideLayouts/slideLayout5.xml" Id="R9d2dea06807d4fe3" /><Relationship Type="http://schemas.openxmlformats.org/officeDocument/2006/relationships/slideLayout" Target="/ppt/slideLayouts/slideLayout6.xml" Id="Ra9c2ed66b49347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e99b5e6ba044f8"/>
    <p:sldLayoutId xmlns:r="http://schemas.openxmlformats.org/officeDocument/2006/relationships" id="2147483650" r:id="R78eea3557ed442e2"/>
    <p:sldLayoutId xmlns:r="http://schemas.openxmlformats.org/officeDocument/2006/relationships" id="2147483651" r:id="Ra6cca055ec044097"/>
    <p:sldLayoutId xmlns:r="http://schemas.openxmlformats.org/officeDocument/2006/relationships" id="2147483652" r:id="R74ff589251c748dd"/>
    <p:sldLayoutId xmlns:r="http://schemas.openxmlformats.org/officeDocument/2006/relationships" id="2147483653" r:id="R9d2dea06807d4fe3"/>
    <p:sldLayoutId xmlns:r="http://schemas.openxmlformats.org/officeDocument/2006/relationships" id="2147483654" r:id="Ra9c2ed66b49347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3cf5c6e46347f5" /><Relationship Type="http://schemas.openxmlformats.org/officeDocument/2006/relationships/notesSlide" Target="/ppt/notesSlides/notesSlide1.xml" Id="R081516efd15145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d56b148da94633" /><Relationship Type="http://schemas.openxmlformats.org/officeDocument/2006/relationships/notesSlide" Target="/ppt/notesSlides/notesSlide2.xml" Id="R66188cfad5144c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6a6097a854441f" /><Relationship Type="http://schemas.openxmlformats.org/officeDocument/2006/relationships/notesSlide" Target="/ppt/notesSlides/notesSlide3.xml" Id="R32f6942e301140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d1ff8c6b9a4430" /><Relationship Type="http://schemas.openxmlformats.org/officeDocument/2006/relationships/notesSlide" Target="/ppt/notesSlides/notesSlide4.xml" Id="R1000a6533a2e45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8a2cf89a044f6b" /><Relationship Type="http://schemas.openxmlformats.org/officeDocument/2006/relationships/image" Target="/ppt/media/image.jpeg" Id="R0293d4964cee4033" /><Relationship Type="http://schemas.openxmlformats.org/officeDocument/2006/relationships/notesSlide" Target="/ppt/notesSlides/notesSlide5.xml" Id="R38dcd87b976f43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660ff6772e44bb" /><Relationship Type="http://schemas.openxmlformats.org/officeDocument/2006/relationships/notesSlide" Target="/ppt/notesSlides/notesSlide6.xml" Id="Rad771b641b6d40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e6e87eca6d415e" /><Relationship Type="http://schemas.openxmlformats.org/officeDocument/2006/relationships/notesSlide" Target="/ppt/notesSlides/notesSlide7.xml" Id="Rfc696cb7f49a42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4942d6e4274aff" /><Relationship Type="http://schemas.openxmlformats.org/officeDocument/2006/relationships/image" Target="/ppt/media/image2.jpeg" Id="R2243d61444fb4b2a" /><Relationship Type="http://schemas.openxmlformats.org/officeDocument/2006/relationships/notesSlide" Target="/ppt/notesSlides/notesSlide8.xml" Id="R0211d4b897c146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a7b96c6537406b" /><Relationship Type="http://schemas.openxmlformats.org/officeDocument/2006/relationships/notesSlide" Target="/ppt/notesSlides/notesSlide9.xml" Id="R2197883fe98845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a9bac7c2314b15" /><Relationship Type="http://schemas.openxmlformats.org/officeDocument/2006/relationships/notesSlide" Target="/ppt/notesSlides/notesSlide10.xml" Id="Rae1ef3a2df2e4b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3c3039623a46ba" /><Relationship Type="http://schemas.openxmlformats.org/officeDocument/2006/relationships/notesSlide" Target="/ppt/notesSlides/notesSlide11.xml" Id="R8c2b2441460e4ba7" /></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940058cf0094471" /><ns0:Relationship Type="http://schemas.openxmlformats.org/officeDocument/2006/relationships/image" Target="/ppt/media/image.png" Id="Rcbf32e392e3f4bdd" /><ns0:Relationship Type="http://schemas.openxmlformats.org/officeDocument/2006/relationships/image" Target="/ppt/media/image2.png" Id="R0b919cd8d1f046cc" /><ns0:Relationship Type="http://schemas.openxmlformats.org/officeDocument/2006/relationships/notesSlide" Target="/ppt/notesSlides/notesSlide12.xml" Id="R74a88d09e31247c9" /><ns0:Relationship Id="rIdJuryDemo" Type="http://schemas.openxmlformats.org/officeDocument/2006/relationships/hyperlink" Target="https://president-diameter-endearing.ngrok-free.dev" TargetMode="External" /><ns0:Relationship Id="rIdJuryRepo" Type="http://schemas.openxmlformats.org/officeDocument/2006/relationships/hyperlink" Target="https://github.com/Tonitrus1/ALFA-HACK-2026" TargetMode="External" /><ns0:Relationship Id="rIdJuryTag" Type="http://schemas.openxmlformats.org/officeDocument/2006/relationships/hyperlink" Target="https://github.com/Tonitrus1/ALFA-HACK-2026/tree/submission-2026-10-26" TargetMode="External" /></ns0: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2B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6B986291-E499-4538-AAED-32FD6346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6B5F65C2-1AAD-4C35-93EC-A12CBBC3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4" name="01">
            <a:extLst xmlns:a="http://schemas.openxmlformats.org/drawingml/2006/main">
              <a:ext uri="{FF2B5EF4-FFF2-40B4-BE49-F238E27FC236}">
                <a16:creationId xmlns:a16="http://schemas.microsoft.com/office/drawing/2014/main" id="{23FC7A2A-A031-4AD3-9DDC-0B20EA63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Поток">
            <a:extLst xmlns:a="http://schemas.openxmlformats.org/drawingml/2006/main">
              <a:ext uri="{FF2B5EF4-FFF2-40B4-BE49-F238E27FC236}">
                <a16:creationId xmlns:a16="http://schemas.microsoft.com/office/drawing/2014/main" id="{AEE92BE2-17DB-4A10-AC76-38758B02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2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900" b="1">
                <a:solidFill>
                  <a:srgbClr val="FFFFFF"/>
                </a:solidFill>
              </a:defRPr>
            </a:pPr>
            <a:r>
              <a:rPr sz="12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Поток</a:t>
            </a:r>
          </a:p>
        </p:txBody>
      </p:sp>
      <p:sp>
        <p:nvSpPr>
          <p:cNvPr id="6" name="Умный кредитный кабинет">
            <a:extLst xmlns:a="http://schemas.openxmlformats.org/drawingml/2006/main">
              <a:ext uri="{FF2B5EF4-FFF2-40B4-BE49-F238E27FC236}">
                <a16:creationId xmlns:a16="http://schemas.microsoft.com/office/drawing/2014/main" id="{86BB771B-F84B-498D-8266-57AE5123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477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825" b="0">
                <a:solidFill>
                  <a:srgbClr val="FFFFFF"/>
                </a:solidFill>
              </a:defRPr>
            </a:pPr>
            <a:r>
              <a:rPr sz="3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Умный кредитный кабинет</a:t>
            </a:r>
          </a:p>
          <a:p xmlns:a="http://schemas.openxmlformats.org/drawingml/2006/main">
            <a:pPr algn="l">
              <a:defRPr sz="3825" b="0">
                <a:solidFill>
                  <a:srgbClr val="FFFFFF"/>
                </a:solidFill>
              </a:defRPr>
            </a:pPr>
            <a:r>
              <a:rPr sz="3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предпринимателя</a:t>
            </a:r>
          </a:p>
        </p:txBody>
      </p:sp>
      <p:sp>
        <p:nvSpPr>
          <p:cNvPr id="7" name="Gambit_Yvaga">
            <a:extLst xmlns:a="http://schemas.openxmlformats.org/drawingml/2006/main">
              <a:ext uri="{FF2B5EF4-FFF2-40B4-BE49-F238E27FC236}">
                <a16:creationId xmlns:a16="http://schemas.microsoft.com/office/drawing/2014/main" id="{0DC69DA5-8DBB-4C3A-9D58-C27B3172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Gambit_Yvaga</a:t>
            </a:r>
          </a:p>
        </p:txBody>
      </p:sp>
      <p:sp>
        <p:nvSpPr>
          <p:cNvPr id="8" name="Работающий сервис и открытый код">
            <a:extLst xmlns:a="http://schemas.openxmlformats.org/drawingml/2006/main">
              <a:ext uri="{FF2B5EF4-FFF2-40B4-BE49-F238E27FC236}">
                <a16:creationId xmlns:a16="http://schemas.microsoft.com/office/drawing/2014/main" id="{55224ADD-00A4-4A70-B5BF-8B104464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Работающий сервис и открытый код</a:t>
            </a:r>
          </a:p>
        </p:txBody>
      </p:sp>
    </p:spTree>
    <p:extLst>
      <p:ext uri="{BB962C8B-B14F-4D97-AF65-F5344CB8AC3E}">
        <p14:creationId xmlns:p14="http://schemas.microsoft.com/office/powerpoint/2010/main" val="5688540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396C00A7-A71A-45FE-9E7E-A16D3A55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52B22"/>
                </a:solidFill>
              </a:defRPr>
            </a:pPr>
            <a:r>
              <a:rPr sz="97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Кредитная заявка требует общего контекста">
            <a:extLst xmlns:a="http://schemas.openxmlformats.org/drawingml/2006/main">
              <a:ext uri="{FF2B5EF4-FFF2-40B4-BE49-F238E27FC236}">
                <a16:creationId xmlns:a16="http://schemas.microsoft.com/office/drawing/2014/main" id="{6A5F8BEB-1503-4FC7-A8C3-9E63962F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171717"/>
                </a:solidFill>
              </a:defRPr>
            </a:pPr>
            <a:r>
              <a:rPr sz="36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Кредитная заявка требует общего контекста</a:t>
            </a:r>
          </a:p>
        </p:txBody>
      </p:sp>
      <p:sp>
        <p:nvSpPr>
          <p:cNvPr id="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D813C54E-A24A-4CBF-AA75-F012F08B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D93EC700-377D-4E72-880D-A03EAFC7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Предприниматель">
            <a:extLst xmlns:a="http://schemas.openxmlformats.org/drawingml/2006/main">
              <a:ext uri="{FF2B5EF4-FFF2-40B4-BE49-F238E27FC236}">
                <a16:creationId xmlns:a16="http://schemas.microsoft.com/office/drawing/2014/main" id="{A5716C50-5451-4A60-A35A-7742D156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52B22"/>
                </a:solidFill>
              </a:defRPr>
            </a:pPr>
            <a:r>
              <a:rPr sz="25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Предприниматель</a:t>
            </a:r>
          </a:p>
        </p:txBody>
      </p:sp>
      <p:sp>
        <p:nvSpPr>
          <p:cNvPr id="7" name="Как выбрать продукт?">
            <a:extLst xmlns:a="http://schemas.openxmlformats.org/drawingml/2006/main">
              <a:ext uri="{FF2B5EF4-FFF2-40B4-BE49-F238E27FC236}">
                <a16:creationId xmlns:a16="http://schemas.microsoft.com/office/drawing/2014/main" id="{458C8F55-7059-43E3-92F5-30A7C9FF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71717"/>
                </a:solidFill>
              </a:defRPr>
            </a:pPr>
            <a:r>
              <a:rPr sz="24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Как выбрать продукт?</a:t>
            </a:r>
          </a:p>
          <a:p xmlns:a="http://schemas.openxmlformats.org/drawingml/2006/main">
            <a:pPr algn="l">
              <a:defRPr sz="2400" b="0">
                <a:solidFill>
                  <a:srgbClr val="171717"/>
                </a:solidFill>
              </a:defRPr>
            </a:pPr>
            <a:r>
              <a:rPr sz="24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Какие данные подготовить?</a:t>
            </a:r>
          </a:p>
          <a:p xmlns:a="http://schemas.openxmlformats.org/drawingml/2006/main">
            <a:pPr algn="l">
              <a:defRPr sz="2400" b="0">
                <a:solidFill>
                  <a:srgbClr val="171717"/>
                </a:solidFill>
              </a:defRPr>
            </a:pPr>
            <a:r>
              <a:rPr sz="24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Что делать после подачи?</a:t>
            </a:r>
          </a:p>
        </p:txBody>
      </p:sp>
      <p:sp>
        <p:nvSpPr>
          <p:cNvPr id="8" name="Банк">
            <a:extLst xmlns:a="http://schemas.openxmlformats.org/drawingml/2006/main">
              <a:ext uri="{FF2B5EF4-FFF2-40B4-BE49-F238E27FC236}">
                <a16:creationId xmlns:a16="http://schemas.microsoft.com/office/drawing/2014/main" id="{BE86A6B3-75EE-4553-AE21-80CABFDF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9070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52B22"/>
                </a:solidFill>
              </a:defRPr>
            </a:pPr>
            <a:r>
              <a:rPr sz="25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Банк</a:t>
            </a:r>
          </a:p>
        </p:txBody>
      </p:sp>
      <p:sp>
        <p:nvSpPr>
          <p:cNvPr id="9" name="Собрать данные в одном деле">
            <a:extLst xmlns:a="http://schemas.openxmlformats.org/drawingml/2006/main">
              <a:ext uri="{FF2B5EF4-FFF2-40B4-BE49-F238E27FC236}">
                <a16:creationId xmlns:a16="http://schemas.microsoft.com/office/drawing/2014/main" id="{D4FBBEE7-206B-4D5F-9B9F-B92EE2D9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90800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1717"/>
                </a:solidFill>
              </a:defRPr>
            </a:pPr>
            <a:r>
              <a:rPr sz="22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Собрать данные в одном деле</a:t>
            </a:r>
          </a:p>
          <a:p xmlns:a="http://schemas.openxmlformats.org/drawingml/2006/main">
            <a:pPr algn="l">
              <a:defRPr sz="2250" b="0">
                <a:solidFill>
                  <a:srgbClr val="171717"/>
                </a:solidFill>
              </a:defRPr>
            </a:pPr>
            <a:r>
              <a:rPr sz="22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Согласовать проверки и правила</a:t>
            </a:r>
          </a:p>
          <a:p xmlns:a="http://schemas.openxmlformats.org/drawingml/2006/main">
            <a:pPr algn="l">
              <a:defRPr sz="2250" b="0">
                <a:solidFill>
                  <a:srgbClr val="171717"/>
                </a:solidFill>
              </a:defRPr>
            </a:pPr>
            <a:r>
              <a:rPr sz="22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Объяснить следующий шаг</a:t>
            </a:r>
          </a:p>
        </p:txBody>
      </p:sp>
      <p:sp>
        <p:nvSpPr>
          <p:cNvPr id="10" name="Продуктовая гипотеза: единый кабинет уменьшает разрывы между эта">
            <a:extLst xmlns:a="http://schemas.openxmlformats.org/drawingml/2006/main">
              <a:ext uri="{FF2B5EF4-FFF2-40B4-BE49-F238E27FC236}">
                <a16:creationId xmlns:a16="http://schemas.microsoft.com/office/drawing/2014/main" id="{A75A4307-B692-410E-86B5-E331980A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26262"/>
                </a:solidFill>
              </a:defRPr>
            </a:pPr>
            <a:r>
              <a:rPr sz="1950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Продуктовая гипотеза: единый кабинет уменьшает разрывы между этапами</a:t>
            </a:r>
          </a:p>
        </p:txBody>
      </p:sp>
    </p:spTree>
    <p:extLst>
      <p:ext uri="{BB962C8B-B14F-4D97-AF65-F5344CB8AC3E}">
        <p14:creationId xmlns:p14="http://schemas.microsoft.com/office/powerpoint/2010/main" val="585887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2B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3030FB42-AFAD-4F6C-8178-D1D81255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Одна заявка. Весь путь.">
            <a:extLst xmlns:a="http://schemas.openxmlformats.org/drawingml/2006/main">
              <a:ext uri="{FF2B5EF4-FFF2-40B4-BE49-F238E27FC236}">
                <a16:creationId xmlns:a16="http://schemas.microsoft.com/office/drawing/2014/main" id="{AD6B0B16-AC6D-4FA8-80C5-EA4A6484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FFFFFF"/>
                </a:solidFill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Одна заявка. Весь путь.</a:t>
            </a:r>
          </a:p>
        </p:txBody>
      </p:sp>
      <p:sp>
        <p:nvSpPr>
          <p:cNvPr id="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EA8C67A2-AF8D-431E-BF4D-06D26120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03">
            <a:extLst xmlns:a="http://schemas.openxmlformats.org/drawingml/2006/main">
              <a:ext uri="{FF2B5EF4-FFF2-40B4-BE49-F238E27FC236}">
                <a16:creationId xmlns:a16="http://schemas.microsoft.com/office/drawing/2014/main" id="{67A9FD1B-B7A6-4A9D-8F21-EA730F78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Клиент">
            <a:extLst xmlns:a="http://schemas.openxmlformats.org/drawingml/2006/main">
              <a:ext uri="{FF2B5EF4-FFF2-40B4-BE49-F238E27FC236}">
                <a16:creationId xmlns:a16="http://schemas.microsoft.com/office/drawing/2014/main" id="{1A81EA32-AE65-4818-A0E3-B721A930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Клиент</a:t>
            </a:r>
          </a:p>
        </p:txBody>
      </p:sp>
      <p:sp>
        <p:nvSpPr>
          <p:cNvPr id="7" name="Видит статус и следующий шаг">
            <a:extLst xmlns:a="http://schemas.openxmlformats.org/drawingml/2006/main">
              <a:ext uri="{FF2B5EF4-FFF2-40B4-BE49-F238E27FC236}">
                <a16:creationId xmlns:a16="http://schemas.microsoft.com/office/drawing/2014/main" id="{8CE65548-97D3-4E10-BA7E-8BAB3451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500062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Видит статус и следующий шаг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Возвращается к сохранённым данным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Получает понятный результат</a:t>
            </a:r>
          </a:p>
        </p:txBody>
      </p:sp>
      <p:sp>
        <p:nvSpPr>
          <p:cNvPr id="8" name="Банк">
            <a:extLst xmlns:a="http://schemas.openxmlformats.org/drawingml/2006/main">
              <a:ext uri="{FF2B5EF4-FFF2-40B4-BE49-F238E27FC236}">
                <a16:creationId xmlns:a16="http://schemas.microsoft.com/office/drawing/2014/main" id="{0A9316C3-2924-43CB-B54D-653EE15E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Банк</a:t>
            </a:r>
          </a:p>
        </p:txBody>
      </p:sp>
      <p:sp>
        <p:nvSpPr>
          <p:cNvPr id="9" name="Рассматривает связанное дело">
            <a:extLst xmlns:a="http://schemas.openxmlformats.org/drawingml/2006/main">
              <a:ext uri="{FF2B5EF4-FFF2-40B4-BE49-F238E27FC236}">
                <a16:creationId xmlns:a16="http://schemas.microsoft.com/office/drawing/2014/main" id="{6FA6833D-B1B0-4397-B2E6-C6936B4D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Рассматривает связанное дело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Разделяет риск и кредитную политику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Сохраняет версии и основания</a:t>
            </a:r>
          </a:p>
        </p:txBody>
      </p:sp>
      <p:sp>
        <p:nvSpPr>
          <p:cNvPr id="10" name="OCR и помощник сопровождают клиента внутри кабинета">
            <a:extLst xmlns:a="http://schemas.openxmlformats.org/drawingml/2006/main">
              <a:ext uri="{FF2B5EF4-FFF2-40B4-BE49-F238E27FC236}">
                <a16:creationId xmlns:a16="http://schemas.microsoft.com/office/drawing/2014/main" id="{7CC2E540-9151-493B-B41A-BF467FEF0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OCR и помощник сопровождают клиента внутри кабинета</a:t>
            </a:r>
          </a:p>
        </p:txBody>
      </p:sp>
    </p:spTree>
    <p:extLst>
      <p:ext uri="{BB962C8B-B14F-4D97-AF65-F5344CB8AC3E}">
        <p14:creationId xmlns:p14="http://schemas.microsoft.com/office/powerpoint/2010/main" val="4947823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C3BD1-EB76-40D7-8CD7-65424913F602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1771650" y="2752725"/>
            <a:ext cx="8572500" cy="11715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6CB80-BBA4-4519-8E68-49A8737FDDCD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648700" y="432435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4F134-8C3B-4D87-9228-E472015C561C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648700" y="23526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B1B18-175B-4379-B160-75FA3A36B3BB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5791200" y="432435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2ADDA-6F3E-4A93-B30F-81215BAE9D38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791200" y="23526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BA07E-98D8-4786-9163-16DB2DF31442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933700" y="4324350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00132-4307-41A2-8987-E43D505A38CC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2933700" y="23526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sp>
        <p:nvSpPr>
          <p:cNvPr id="9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74192031-6D5F-4F10-A94E-ED88FCE1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52B22"/>
                </a:solidFill>
              </a:defRPr>
            </a:pPr>
            <a:r>
              <a:rPr sz="97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10" name="Сквозной путь предпринимателя">
            <a:extLst xmlns:a="http://schemas.openxmlformats.org/drawingml/2006/main">
              <a:ext uri="{FF2B5EF4-FFF2-40B4-BE49-F238E27FC236}">
                <a16:creationId xmlns:a16="http://schemas.microsoft.com/office/drawing/2014/main" id="{6057522A-A8C8-43DF-8E21-770F4CA0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171717"/>
                </a:solidFill>
              </a:defRPr>
            </a:pPr>
            <a:r>
              <a:rPr sz="36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Сквозной путь предпринимателя</a:t>
            </a:r>
          </a:p>
        </p:txBody>
      </p:sp>
      <p:sp>
        <p:nvSpPr>
          <p:cNvPr id="11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99E850F8-824E-4961-A950-0803A924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4A8046D2-2EDF-4649-9485-A3E0822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Потребность">
            <a:extLst xmlns:a="http://schemas.openxmlformats.org/drawingml/2006/main">
              <a:ext uri="{FF2B5EF4-FFF2-40B4-BE49-F238E27FC236}">
                <a16:creationId xmlns:a16="http://schemas.microsoft.com/office/drawing/2014/main" id="{242A1F0B-5A77-46CB-BA78-65344FD5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2B22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Потребность</a:t>
            </a:r>
          </a:p>
        </p:txBody>
      </p:sp>
      <p:sp>
        <p:nvSpPr>
          <p:cNvPr id="14" name="Продукт">
            <a:extLst xmlns:a="http://schemas.openxmlformats.org/drawingml/2006/main">
              <a:ext uri="{FF2B5EF4-FFF2-40B4-BE49-F238E27FC236}">
                <a16:creationId xmlns:a16="http://schemas.microsoft.com/office/drawing/2014/main" id="{976B233D-BCD6-4812-9CAC-EADA9836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52625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Продукт</a:t>
            </a:r>
          </a:p>
        </p:txBody>
      </p:sp>
      <p:sp>
        <p:nvSpPr>
          <p:cNvPr id="15" name="Компания">
            <a:extLst xmlns:a="http://schemas.openxmlformats.org/drawingml/2006/main">
              <a:ext uri="{FF2B5EF4-FFF2-40B4-BE49-F238E27FC236}">
                <a16:creationId xmlns:a16="http://schemas.microsoft.com/office/drawing/2014/main" id="{DE82D0D7-3800-4A89-AAED-A0F3154B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52625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Компания</a:t>
            </a:r>
          </a:p>
        </p:txBody>
      </p:sp>
      <p:sp>
        <p:nvSpPr>
          <p:cNvPr id="16" name="Документы">
            <a:extLst xmlns:a="http://schemas.openxmlformats.org/drawingml/2006/main">
              <a:ext uri="{FF2B5EF4-FFF2-40B4-BE49-F238E27FC236}">
                <a16:creationId xmlns:a16="http://schemas.microsoft.com/office/drawing/2014/main" id="{AFEBB95B-6C1B-4952-8EB9-4D14F65C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952625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Документы</a:t>
            </a:r>
          </a:p>
        </p:txBody>
      </p:sp>
      <p:sp>
        <p:nvSpPr>
          <p:cNvPr id="17" name="Финансы">
            <a:extLst xmlns:a="http://schemas.openxmlformats.org/drawingml/2006/main">
              <a:ext uri="{FF2B5EF4-FFF2-40B4-BE49-F238E27FC236}">
                <a16:creationId xmlns:a16="http://schemas.microsoft.com/office/drawing/2014/main" id="{B4A250CC-738B-46F5-9B64-6EAF0B51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Финансы</a:t>
            </a:r>
          </a:p>
        </p:txBody>
      </p:sp>
      <p:sp>
        <p:nvSpPr>
          <p:cNvPr id="18" name="Рассмотрение">
            <a:extLst xmlns:a="http://schemas.openxmlformats.org/drawingml/2006/main">
              <a:ext uri="{FF2B5EF4-FFF2-40B4-BE49-F238E27FC236}">
                <a16:creationId xmlns:a16="http://schemas.microsoft.com/office/drawing/2014/main" id="{B77F3F26-DB1C-461B-9A40-7A3A544A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924300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Рассмотрение</a:t>
            </a:r>
          </a:p>
        </p:txBody>
      </p:sp>
      <p:sp>
        <p:nvSpPr>
          <p:cNvPr id="19" name="Предложение">
            <a:extLst xmlns:a="http://schemas.openxmlformats.org/drawingml/2006/main">
              <a:ext uri="{FF2B5EF4-FFF2-40B4-BE49-F238E27FC236}">
                <a16:creationId xmlns:a16="http://schemas.microsoft.com/office/drawing/2014/main" id="{12CD44BB-DE4B-4BE1-ACAE-F9CCA80E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24300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20" name="Демооформление">
            <a:extLst xmlns:a="http://schemas.openxmlformats.org/drawingml/2006/main">
              <a:ext uri="{FF2B5EF4-FFF2-40B4-BE49-F238E27FC236}">
                <a16:creationId xmlns:a16="http://schemas.microsoft.com/office/drawing/2014/main" id="{B453E412-B8EA-40D2-B2B0-846B1A78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24300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2B22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Демооформление</a:t>
            </a:r>
          </a:p>
        </p:txBody>
      </p:sp>
      <p:sp>
        <p:nvSpPr>
          <p:cNvPr id="21" name="Уточнение возвращает заявку на рассмотрение с новой подтверждённ">
            <a:extLst xmlns:a="http://schemas.openxmlformats.org/drawingml/2006/main">
              <a:ext uri="{FF2B5EF4-FFF2-40B4-BE49-F238E27FC236}">
                <a16:creationId xmlns:a16="http://schemas.microsoft.com/office/drawing/2014/main" id="{0D2C482A-DB0A-4848-A398-CE84DCEF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26262"/>
                </a:solidFill>
              </a:defRPr>
            </a:pPr>
            <a:r>
              <a:rPr sz="1950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Уточнение возвращает заявку на рассмотрение с новой подтверждённой версией данных</a:t>
            </a:r>
          </a:p>
        </p:txBody>
      </p:sp>
    </p:spTree>
    <p:extLst>
      <p:ext uri="{BB962C8B-B14F-4D97-AF65-F5344CB8AC3E}">
        <p14:creationId xmlns:p14="http://schemas.microsoft.com/office/powerpoint/2010/main" val="5842261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4E1798F0-4960-44EB-A102-9F21654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Работающий кабинет">
            <a:extLst xmlns:a="http://schemas.openxmlformats.org/drawingml/2006/main">
              <a:ext uri="{FF2B5EF4-FFF2-40B4-BE49-F238E27FC236}">
                <a16:creationId xmlns:a16="http://schemas.microsoft.com/office/drawing/2014/main" id="{D697E366-9B84-4E08-8C34-EF4F3C28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FFFFFF"/>
                </a:solidFill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Работающий кабинет</a:t>
            </a:r>
          </a:p>
        </p:txBody>
      </p:sp>
      <p:sp>
        <p:nvSpPr>
          <p:cNvPr id="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7336B88E-E31F-4A9F-B0C8-8D37B25D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05">
            <a:extLst xmlns:a="http://schemas.openxmlformats.org/drawingml/2006/main">
              <a:ext uri="{FF2B5EF4-FFF2-40B4-BE49-F238E27FC236}">
                <a16:creationId xmlns:a16="http://schemas.microsoft.com/office/drawing/2014/main" id="{35C2FE4A-BE8C-4C17-B5A3-40CEF829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02FC4E-C59D-46A3-9954-D8E392DF9B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3d4964cee4033"/>
          <a:stretch xmlns:a="http://schemas.openxmlformats.org/drawingml/2006/main"/>
        </p:blipFill>
        <p:spPr>
          <a:xfrm xmlns:a="http://schemas.openxmlformats.org/drawingml/2006/main">
            <a:off x="611717" y="1600200"/>
            <a:ext cx="7806267" cy="4391025"/>
          </a:xfrm>
          <a:prstGeom xmlns:a="http://schemas.openxmlformats.org/drawingml/2006/main" prst="rect">
            <a:avLst/>
          </a:prstGeom>
        </p:spPr>
      </p:pic>
      <p:sp>
        <p:nvSpPr>
          <p:cNvPr id="7" name="Статус заявки">
            <a:extLst xmlns:a="http://schemas.openxmlformats.org/drawingml/2006/main">
              <a:ext uri="{FF2B5EF4-FFF2-40B4-BE49-F238E27FC236}">
                <a16:creationId xmlns:a16="http://schemas.microsoft.com/office/drawing/2014/main" id="{452ED44B-CD57-4631-9B01-BB91C6B5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4785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52B22"/>
                </a:solidFill>
              </a:defRPr>
            </a:pPr>
            <a:r>
              <a:rPr sz="22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Статус заявки</a:t>
            </a:r>
          </a:p>
        </p:txBody>
      </p:sp>
      <p:sp>
        <p:nvSpPr>
          <p:cNvPr id="8" name="Сохранённый черновик">
            <a:extLst xmlns:a="http://schemas.openxmlformats.org/drawingml/2006/main">
              <a:ext uri="{FF2B5EF4-FFF2-40B4-BE49-F238E27FC236}">
                <a16:creationId xmlns:a16="http://schemas.microsoft.com/office/drawing/2014/main" id="{A6D0DD61-DBE1-4674-834D-FE4B0080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81250"/>
            <a:ext cx="2762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Сохранённый черновик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 следующий шаг</a:t>
            </a:r>
          </a:p>
        </p:txBody>
      </p:sp>
      <p:sp>
        <p:nvSpPr>
          <p:cNvPr id="9" name="Персональная лента">
            <a:extLst xmlns:a="http://schemas.openxmlformats.org/drawingml/2006/main">
              <a:ext uri="{FF2B5EF4-FFF2-40B4-BE49-F238E27FC236}">
                <a16:creationId xmlns:a16="http://schemas.microsoft.com/office/drawing/2014/main" id="{BD9E236D-9051-4163-BE5C-BC5673EF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67125"/>
            <a:ext cx="276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52B22"/>
                </a:solidFill>
              </a:defRPr>
            </a:pPr>
            <a:r>
              <a:rPr sz="22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Персональная лента</a:t>
            </a:r>
          </a:p>
        </p:txBody>
      </p:sp>
      <p:sp>
        <p:nvSpPr>
          <p:cNvPr id="10" name="Материалы по интересам">
            <a:extLst xmlns:a="http://schemas.openxmlformats.org/drawingml/2006/main">
              <a:ext uri="{FF2B5EF4-FFF2-40B4-BE49-F238E27FC236}">
                <a16:creationId xmlns:a16="http://schemas.microsoft.com/office/drawing/2014/main" id="{5654325B-983B-480C-AD0D-A628D0FA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0100"/>
            <a:ext cx="276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Материалы по интересам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 контексту бизнеса</a:t>
            </a:r>
          </a:p>
        </p:txBody>
      </p:sp>
    </p:spTree>
    <p:extLst>
      <p:ext uri="{BB962C8B-B14F-4D97-AF65-F5344CB8AC3E}">
        <p14:creationId xmlns:p14="http://schemas.microsoft.com/office/powerpoint/2010/main" val="4426394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C591D-E89C-41B1-935F-12721368E0B6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6096000" y="2362200"/>
            <a:ext cx="4286250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36C9A-0CFB-4F8C-8CC9-7325018D6FC8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6096000" y="2362200"/>
            <a:ext cx="1428750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412177-014C-4319-BBAE-05EAE53DBFC1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4667250" y="2362200"/>
            <a:ext cx="1428750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2A241-9100-4F5D-BDA6-E5C76C090526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1809750" y="2362200"/>
            <a:ext cx="4286250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sp>
        <p:nvSpPr>
          <p:cNvPr id="6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55447BCE-DCAA-4232-B787-9A0D335D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7" name="Четыре результата рассмотрения">
            <a:extLst xmlns:a="http://schemas.openxmlformats.org/drawingml/2006/main">
              <a:ext uri="{FF2B5EF4-FFF2-40B4-BE49-F238E27FC236}">
                <a16:creationId xmlns:a16="http://schemas.microsoft.com/office/drawing/2014/main" id="{06D9E960-3CF8-44A3-9E21-4AC15E1F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FFFFFF"/>
                </a:solidFill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Четыре результата рассмотрения</a:t>
            </a:r>
          </a:p>
        </p:txBody>
      </p:sp>
      <p:sp>
        <p:nvSpPr>
          <p:cNvPr id="8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16E28F8B-16A7-44D4-B246-D4E3F936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9" name="06">
            <a:extLst xmlns:a="http://schemas.openxmlformats.org/drawingml/2006/main">
              <a:ext uri="{FF2B5EF4-FFF2-40B4-BE49-F238E27FC236}">
                <a16:creationId xmlns:a16="http://schemas.microsoft.com/office/drawing/2014/main" id="{06B48DD8-49BB-413E-B975-100AACB8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0" name="Заявка и подтверждённые финансы">
            <a:extLst xmlns:a="http://schemas.openxmlformats.org/drawingml/2006/main">
              <a:ext uri="{FF2B5EF4-FFF2-40B4-BE49-F238E27FC236}">
                <a16:creationId xmlns:a16="http://schemas.microsoft.com/office/drawing/2014/main" id="{02123AFB-0B55-4068-BF44-B5E22B6F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14500"/>
            <a:ext cx="552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2B22"/>
          </a:solidFill>
          <a:ln xmlns:a="http://schemas.openxmlformats.org/drawingml/2006/main" w="9525">
            <a:solidFill>
              <a:srgbClr val="555555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Заявка и подтверждённые финансы</a:t>
            </a:r>
          </a:p>
        </p:txBody>
      </p:sp>
      <p:sp>
        <p:nvSpPr>
          <p:cNvPr id="11" name="Одобрение">
            <a:extLst xmlns:a="http://schemas.openxmlformats.org/drawingml/2006/main">
              <a:ext uri="{FF2B5EF4-FFF2-40B4-BE49-F238E27FC236}">
                <a16:creationId xmlns:a16="http://schemas.microsoft.com/office/drawing/2014/main" id="{F87AD034-1A34-4877-98B7-55ADCF16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552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2B22"/>
          </a:solidFill>
          <a:ln xmlns:a="http://schemas.openxmlformats.org/drawingml/2006/main" w="9525">
            <a:solidFill>
              <a:srgbClr val="555555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Одобрение</a:t>
            </a:r>
          </a:p>
        </p:txBody>
      </p:sp>
      <p:sp>
        <p:nvSpPr>
          <p:cNvPr id="12" name="APPROVED">
            <a:extLst xmlns:a="http://schemas.openxmlformats.org/drawingml/2006/main">
              <a:ext uri="{FF2B5EF4-FFF2-40B4-BE49-F238E27FC236}">
                <a16:creationId xmlns:a16="http://schemas.microsoft.com/office/drawing/2014/main" id="{8B3AE65C-B52D-4D2B-90D8-1F322311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481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13" name="Предложение на заявленную сумму">
            <a:extLst xmlns:a="http://schemas.openxmlformats.org/drawingml/2006/main">
              <a:ext uri="{FF2B5EF4-FFF2-40B4-BE49-F238E27FC236}">
                <a16:creationId xmlns:a16="http://schemas.microsoft.com/office/drawing/2014/main" id="{E1D8929A-E368-49D5-8DD7-9C2C1A7B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Предложение на заявленную сумму</a:t>
            </a:r>
          </a:p>
        </p:txBody>
      </p:sp>
      <p:sp>
        <p:nvSpPr>
          <p:cNvPr id="14" name="Отказ">
            <a:extLst xmlns:a="http://schemas.openxmlformats.org/drawingml/2006/main">
              <a:ext uri="{FF2B5EF4-FFF2-40B4-BE49-F238E27FC236}">
                <a16:creationId xmlns:a16="http://schemas.microsoft.com/office/drawing/2014/main" id="{3E30F649-53E3-42FB-95FE-410E399D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76600"/>
            <a:ext cx="2552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9525">
            <a:solidFill>
              <a:srgbClr val="555555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Отказ</a:t>
            </a:r>
          </a:p>
        </p:txBody>
      </p:sp>
      <p:sp>
        <p:nvSpPr>
          <p:cNvPr id="15" name="DECLINED">
            <a:extLst xmlns:a="http://schemas.openxmlformats.org/drawingml/2006/main">
              <a:ext uri="{FF2B5EF4-FFF2-40B4-BE49-F238E27FC236}">
                <a16:creationId xmlns:a16="http://schemas.microsoft.com/office/drawing/2014/main" id="{049402EE-0996-4734-985B-66E9220C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481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DECLINED</a:t>
            </a:r>
          </a:p>
        </p:txBody>
      </p:sp>
      <p:sp>
        <p:nvSpPr>
          <p:cNvPr id="16" name="Причина отказа в кабинете">
            <a:extLst xmlns:a="http://schemas.openxmlformats.org/drawingml/2006/main">
              <a:ext uri="{FF2B5EF4-FFF2-40B4-BE49-F238E27FC236}">
                <a16:creationId xmlns:a16="http://schemas.microsoft.com/office/drawing/2014/main" id="{A831B6FE-0B63-4BAA-8FEC-EB81658B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0535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Причина отказа в кабинете</a:t>
            </a:r>
          </a:p>
        </p:txBody>
      </p:sp>
      <p:sp>
        <p:nvSpPr>
          <p:cNvPr id="17" name="Ручная проверка">
            <a:extLst xmlns:a="http://schemas.openxmlformats.org/drawingml/2006/main">
              <a:ext uri="{FF2B5EF4-FFF2-40B4-BE49-F238E27FC236}">
                <a16:creationId xmlns:a16="http://schemas.microsoft.com/office/drawing/2014/main" id="{42F38364-3F55-40C6-8884-3B2F97BA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76600"/>
            <a:ext cx="2552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9525">
            <a:solidFill>
              <a:srgbClr val="555555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Ручная проверка</a:t>
            </a:r>
          </a:p>
        </p:txBody>
      </p:sp>
      <p:sp>
        <p:nvSpPr>
          <p:cNvPr id="18" name="MANUAL">
            <a:extLst xmlns:a="http://schemas.openxmlformats.org/drawingml/2006/main">
              <a:ext uri="{FF2B5EF4-FFF2-40B4-BE49-F238E27FC236}">
                <a16:creationId xmlns:a16="http://schemas.microsoft.com/office/drawing/2014/main" id="{32FAA6CA-D2F7-4ABE-B1E3-84430BAE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19" name="Передача на дополнительное рассмотрение">
            <a:extLst xmlns:a="http://schemas.openxmlformats.org/drawingml/2006/main">
              <a:ext uri="{FF2B5EF4-FFF2-40B4-BE49-F238E27FC236}">
                <a16:creationId xmlns:a16="http://schemas.microsoft.com/office/drawing/2014/main" id="{468A481D-DC05-4FD4-A29A-093126B4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Передача на дополнительное рассмотрение</a:t>
            </a:r>
          </a:p>
        </p:txBody>
      </p:sp>
      <p:sp>
        <p:nvSpPr>
          <p:cNvPr id="20" name="Другие условия">
            <a:extLst xmlns:a="http://schemas.openxmlformats.org/drawingml/2006/main">
              <a:ext uri="{FF2B5EF4-FFF2-40B4-BE49-F238E27FC236}">
                <a16:creationId xmlns:a16="http://schemas.microsoft.com/office/drawing/2014/main" id="{5AAF73F9-86C5-4BA7-975B-137909FE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76600"/>
            <a:ext cx="2552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9525">
            <a:solidFill>
              <a:srgbClr val="555555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Другие условия</a:t>
            </a:r>
          </a:p>
        </p:txBody>
      </p:sp>
      <p:sp>
        <p:nvSpPr>
          <p:cNvPr id="21" name="ALTERNATIVE">
            <a:extLst xmlns:a="http://schemas.openxmlformats.org/drawingml/2006/main">
              <a:ext uri="{FF2B5EF4-FFF2-40B4-BE49-F238E27FC236}">
                <a16:creationId xmlns:a16="http://schemas.microsoft.com/office/drawing/2014/main" id="{90363928-058A-46EE-9340-FA61B281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481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ALTERNATIVE</a:t>
            </a:r>
          </a:p>
        </p:txBody>
      </p:sp>
      <p:sp>
        <p:nvSpPr>
          <p:cNvPr id="22" name="Предложение меньшей суммы">
            <a:extLst xmlns:a="http://schemas.openxmlformats.org/drawingml/2006/main">
              <a:ext uri="{FF2B5EF4-FFF2-40B4-BE49-F238E27FC236}">
                <a16:creationId xmlns:a16="http://schemas.microsoft.com/office/drawing/2014/main" id="{6655FB66-03FA-432C-8F5A-05A2AC06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70535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Предложение меньшей суммы</a:t>
            </a:r>
          </a:p>
        </p:txBody>
      </p:sp>
      <p:sp>
        <p:nvSpPr>
          <p:cNvPr id="23" name="Отдельная ветка уточнения: клиент дополняет данные и возвращает ">
            <a:extLst xmlns:a="http://schemas.openxmlformats.org/drawingml/2006/main">
              <a:ext uri="{FF2B5EF4-FFF2-40B4-BE49-F238E27FC236}">
                <a16:creationId xmlns:a16="http://schemas.microsoft.com/office/drawing/2014/main" id="{897F75DB-DDEE-4BE1-AA77-BA34D2A3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C6C6C6"/>
                </a:solidFill>
              </a:defRPr>
            </a:pPr>
            <a:r>
              <a:rPr sz="1650" b="0">
                <a:solidFill>
                  <a:srgbClr val="C6C6C6"/>
                </a:solidFill>
                <a:latin typeface="Arial"/>
                <a:ea typeface="Arial"/>
                <a:cs typeface="Arial"/>
              </a:rPr>
              <a:t>Отдельная ветка уточнения: клиент дополняет данные и возвращает заявку на рассмотрение</a:t>
            </a:r>
          </a:p>
        </p:txBody>
      </p:sp>
    </p:spTree>
    <p:extLst>
      <p:ext uri="{BB962C8B-B14F-4D97-AF65-F5344CB8AC3E}">
        <p14:creationId xmlns:p14="http://schemas.microsoft.com/office/powerpoint/2010/main" val="146125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C67F6C6B-5D82-44A8-A120-7BA46B95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52B22"/>
                </a:solidFill>
              </a:defRPr>
            </a:pPr>
            <a:r>
              <a:rPr sz="97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Данные для проверки каждой развилки">
            <a:extLst xmlns:a="http://schemas.openxmlformats.org/drawingml/2006/main">
              <a:ext uri="{FF2B5EF4-FFF2-40B4-BE49-F238E27FC236}">
                <a16:creationId xmlns:a16="http://schemas.microsoft.com/office/drawing/2014/main" id="{8C1B08FA-7BF4-4735-B48C-72339244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171717"/>
                </a:solidFill>
              </a:defRPr>
            </a:pPr>
            <a:r>
              <a:rPr sz="36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Данные для проверки каждой развилки</a:t>
            </a:r>
          </a:p>
        </p:txBody>
      </p:sp>
      <p:sp>
        <p:nvSpPr>
          <p:cNvPr id="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F662CE0E-48DD-4886-A8CA-E2467982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07">
            <a:extLst xmlns:a="http://schemas.openxmlformats.org/drawingml/2006/main">
              <a:ext uri="{FF2B5EF4-FFF2-40B4-BE49-F238E27FC236}">
                <a16:creationId xmlns:a16="http://schemas.microsoft.com/office/drawing/2014/main" id="{2F0E2553-DBB2-48E1-8A15-4B147F2F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Оборотный кредит 500 000 ₽ / 12 месяцев / бизнес 40 месяцев / от">
            <a:extLst xmlns:a="http://schemas.openxmlformats.org/drawingml/2006/main">
              <a:ext uri="{FF2B5EF4-FFF2-40B4-BE49-F238E27FC236}">
                <a16:creationId xmlns:a16="http://schemas.microsoft.com/office/drawing/2014/main" id="{8EC8EB69-A5C9-4DE4-93A1-CD355810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Оборотный кредит 500 000 ₽ / 12 месяцев / бизнес 40 месяцев / отчётность за 2025 год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724CC-CDFE-4006-AA1C-813B5D71F4EB}"/>
              </a:ext>
            </a:extLst>
          </p:cNvPr>
          <p:cNvGraphicFramePr/>
          <p:nvPr/>
        </p:nvGraphicFramePr>
        <p:xfrm>
          <a:off xmlns:a="http://schemas.openxmlformats.org/drawingml/2006/main" x="533400" y="1905000"/>
          <a:ext xmlns:a="http://schemas.openxmlformats.org/drawingml/2006/main" cx="11125200" cy="3848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095500"/>
                <a:gridCol w="2095500"/>
                <a:gridCol w="2095500"/>
                <a:gridCol w="2095500"/>
              </a:tblGrid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Все суммы в рублях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Одобрение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Отказ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Ручная проверка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Другие условия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Выручка в анкете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Активы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Обязательства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400 000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920 000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400 000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400 000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Оборотные активы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Краткосрочные обяз.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Капитал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600 000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80 000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600 000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600 000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Выручка в отчётности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1 000 000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Чистая прибыль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100 000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EBIT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150 000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150 000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Ожидаемо: 500 000 ₽ / отказ / ручная проверка / предложение 250 ">
            <a:extLst xmlns:a="http://schemas.openxmlformats.org/drawingml/2006/main">
              <a:ext uri="{FF2B5EF4-FFF2-40B4-BE49-F238E27FC236}">
                <a16:creationId xmlns:a16="http://schemas.microsoft.com/office/drawing/2014/main" id="{258BF441-B591-43B7-891F-A9A31171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11125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52B22"/>
                </a:solidFill>
              </a:defRPr>
            </a:pPr>
            <a:r>
              <a:rPr sz="180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Ожидаемо: 500 000 ₽ / отказ / ручная проверка / предложение 250 000 ₽</a:t>
            </a:r>
          </a:p>
        </p:txBody>
      </p:sp>
    </p:spTree>
    <p:extLst>
      <p:ext uri="{BB962C8B-B14F-4D97-AF65-F5344CB8AC3E}">
        <p14:creationId xmlns:p14="http://schemas.microsoft.com/office/powerpoint/2010/main" val="12663714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0497D1E4-97B7-4968-B1AF-E725FDDE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52B22"/>
                </a:solidFill>
              </a:defRPr>
            </a:pPr>
            <a:r>
              <a:rPr sz="97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Документы и подтверждение финансов">
            <a:extLst xmlns:a="http://schemas.openxmlformats.org/drawingml/2006/main">
              <a:ext uri="{FF2B5EF4-FFF2-40B4-BE49-F238E27FC236}">
                <a16:creationId xmlns:a16="http://schemas.microsoft.com/office/drawing/2014/main" id="{1AB07E36-5BF6-4331-9BDC-9D190C23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171717"/>
                </a:solidFill>
              </a:defRPr>
            </a:pPr>
            <a:r>
              <a:rPr sz="36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Документы и подтверждение финансов</a:t>
            </a:r>
          </a:p>
        </p:txBody>
      </p:sp>
      <p:sp>
        <p:nvSpPr>
          <p:cNvPr id="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A7D5DE5A-6E37-4A9A-BEA0-41D287B4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08">
            <a:extLst xmlns:a="http://schemas.openxmlformats.org/drawingml/2006/main">
              <a:ext uri="{FF2B5EF4-FFF2-40B4-BE49-F238E27FC236}">
                <a16:creationId xmlns:a16="http://schemas.microsoft.com/office/drawing/2014/main" id="{BC201CF2-8397-4EC3-85F2-4BED5639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36D20-A2D6-4B73-97FD-12F537917B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3d61444fb4b2a"/>
          <a:stretch xmlns:a="http://schemas.openxmlformats.org/drawingml/2006/main"/>
        </p:blipFill>
        <p:spPr>
          <a:xfrm xmlns:a="http://schemas.openxmlformats.org/drawingml/2006/main">
            <a:off x="609600" y="1696641"/>
            <a:ext cx="6667500" cy="3750469"/>
          </a:xfrm>
          <a:prstGeom xmlns:a="http://schemas.openxmlformats.org/drawingml/2006/main" prst="rect">
            <a:avLst/>
          </a:prstGeom>
        </p:spPr>
      </p:pic>
      <p:sp>
        <p:nvSpPr>
          <p:cNvPr id="7" name="Карантин и ClamAV">
            <a:extLst xmlns:a="http://schemas.openxmlformats.org/drawingml/2006/main">
              <a:ext uri="{FF2B5EF4-FFF2-40B4-BE49-F238E27FC236}">
                <a16:creationId xmlns:a16="http://schemas.microsoft.com/office/drawing/2014/main" id="{7C03534F-443E-4A94-923C-4DAFE044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52B22"/>
                </a:solidFill>
              </a:defRPr>
            </a:pPr>
            <a:r>
              <a:rPr sz="22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Карантин и ClamAV</a:t>
            </a:r>
          </a:p>
        </p:txBody>
      </p:sp>
      <p:sp>
        <p:nvSpPr>
          <p:cNvPr id="8" name="Только CLEAN-версия">
            <a:extLst xmlns:a="http://schemas.openxmlformats.org/drawingml/2006/main">
              <a:ext uri="{FF2B5EF4-FFF2-40B4-BE49-F238E27FC236}">
                <a16:creationId xmlns:a16="http://schemas.microsoft.com/office/drawing/2014/main" id="{6AE77110-40AC-4111-A854-02794DB2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00300"/>
            <a:ext cx="3714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1717"/>
                </a:solidFill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Только CLEAN-версия</a:t>
            </a:r>
          </a:p>
          <a:p xmlns:a="http://schemas.openxmlformats.org/drawingml/2006/main">
            <a:pPr algn="l">
              <a:defRPr sz="1950" b="0">
                <a:solidFill>
                  <a:srgbClr val="171717"/>
                </a:solidFill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поступает на распознавание</a:t>
            </a:r>
          </a:p>
        </p:txBody>
      </p:sp>
      <p:sp>
        <p:nvSpPr>
          <p:cNvPr id="9" name="Tesseract и LLM">
            <a:extLst xmlns:a="http://schemas.openxmlformats.org/drawingml/2006/main">
              <a:ext uri="{FF2B5EF4-FFF2-40B4-BE49-F238E27FC236}">
                <a16:creationId xmlns:a16="http://schemas.microsoft.com/office/drawing/2014/main" id="{5E5BBBDE-40DC-4B8B-9C0D-22986B6C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480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52B22"/>
                </a:solidFill>
              </a:defRPr>
            </a:pPr>
            <a:r>
              <a:rPr sz="22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Tesseract и LLM</a:t>
            </a:r>
          </a:p>
        </p:txBody>
      </p:sp>
      <p:sp>
        <p:nvSpPr>
          <p:cNvPr id="10" name="Поля с источником">
            <a:extLst xmlns:a="http://schemas.openxmlformats.org/drawingml/2006/main">
              <a:ext uri="{FF2B5EF4-FFF2-40B4-BE49-F238E27FC236}">
                <a16:creationId xmlns:a16="http://schemas.microsoft.com/office/drawing/2014/main" id="{3E35C1D4-8874-4F77-AAA8-0EB632B8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19550"/>
            <a:ext cx="3714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1717"/>
                </a:solidFill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Поля с источником</a:t>
            </a:r>
          </a:p>
          <a:p xmlns:a="http://schemas.openxmlformats.org/drawingml/2006/main">
            <a:pPr algn="l">
              <a:defRPr sz="1950" b="0">
                <a:solidFill>
                  <a:srgbClr val="171717"/>
                </a:solidFill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 проверкой JSON Schema</a:t>
            </a:r>
          </a:p>
        </p:txBody>
      </p:sp>
      <p:sp>
        <p:nvSpPr>
          <p:cNvPr id="11" name="Пользователь сверяет найденное и подтверждает восемь показателей">
            <a:extLst xmlns:a="http://schemas.openxmlformats.org/drawingml/2006/main">
              <a:ext uri="{FF2B5EF4-FFF2-40B4-BE49-F238E27FC236}">
                <a16:creationId xmlns:a16="http://schemas.microsoft.com/office/drawing/2014/main" id="{22442D1C-46D7-4109-A379-2E18EED5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1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52B22"/>
                </a:solidFill>
              </a:defRPr>
            </a:pPr>
            <a:r>
              <a:rPr sz="210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Пользователь сверяет найденное и подтверждает восемь показателей</a:t>
            </a:r>
          </a:p>
        </p:txBody>
      </p:sp>
    </p:spTree>
    <p:extLst>
      <p:ext uri="{BB962C8B-B14F-4D97-AF65-F5344CB8AC3E}">
        <p14:creationId xmlns:p14="http://schemas.microsoft.com/office/powerpoint/2010/main" val="2108388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EAB0BB5D-99BA-4FE9-8DCB-FA0531DF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Персональная лента и помощник">
            <a:extLst xmlns:a="http://schemas.openxmlformats.org/drawingml/2006/main">
              <a:ext uri="{FF2B5EF4-FFF2-40B4-BE49-F238E27FC236}">
                <a16:creationId xmlns:a16="http://schemas.microsoft.com/office/drawing/2014/main" id="{2128F93B-1A1E-4638-91C3-46099BF9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FFFFFF"/>
                </a:solidFill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Персональная лента и помощник</a:t>
            </a:r>
          </a:p>
        </p:txBody>
      </p:sp>
      <p:sp>
        <p:nvSpPr>
          <p:cNvPr id="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E0F4B120-AD89-4B97-AB46-8505F9F1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09">
            <a:extLst xmlns:a="http://schemas.openxmlformats.org/drawingml/2006/main">
              <a:ext uri="{FF2B5EF4-FFF2-40B4-BE49-F238E27FC236}">
                <a16:creationId xmlns:a16="http://schemas.microsoft.com/office/drawing/2014/main" id="{65F81991-4644-4FA9-B05E-797BE5AF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Лента E5">
            <a:extLst xmlns:a="http://schemas.openxmlformats.org/drawingml/2006/main">
              <a:ext uri="{FF2B5EF4-FFF2-40B4-BE49-F238E27FC236}">
                <a16:creationId xmlns:a16="http://schemas.microsoft.com/office/drawing/2014/main" id="{325971B5-6200-45F4-9F62-DB029F0F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52B22"/>
                </a:solidFill>
              </a:defRPr>
            </a:pPr>
            <a:r>
              <a:rPr sz="25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Лента E5</a:t>
            </a:r>
          </a:p>
        </p:txBody>
      </p:sp>
      <p:sp>
        <p:nvSpPr>
          <p:cNvPr id="7" name="Интересы и контекст компании">
            <a:extLst xmlns:a="http://schemas.openxmlformats.org/drawingml/2006/main">
              <a:ext uri="{FF2B5EF4-FFF2-40B4-BE49-F238E27FC236}">
                <a16:creationId xmlns:a16="http://schemas.microsoft.com/office/drawing/2014/main" id="{4BBA6A66-D833-4406-A190-CB01EF10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50006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Интересы и контекст компании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Открытие статей и сохранение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RULES при недоступности модели</a:t>
            </a:r>
          </a:p>
        </p:txBody>
      </p:sp>
      <p:sp>
        <p:nvSpPr>
          <p:cNvPr id="8" name="Ассистент RAG">
            <a:extLst xmlns:a="http://schemas.openxmlformats.org/drawingml/2006/main">
              <a:ext uri="{FF2B5EF4-FFF2-40B4-BE49-F238E27FC236}">
                <a16:creationId xmlns:a16="http://schemas.microsoft.com/office/drawing/2014/main" id="{94E8F72C-3006-4FBD-A878-1CBEFE86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52600"/>
            <a:ext cx="485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52B22"/>
                </a:solidFill>
              </a:defRPr>
            </a:pPr>
            <a:r>
              <a:rPr sz="255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Ассистент RAG</a:t>
            </a:r>
          </a:p>
        </p:txBody>
      </p:sp>
      <p:sp>
        <p:nvSpPr>
          <p:cNvPr id="9" name="E5 и BM25, индекс Qdrant">
            <a:extLst xmlns:a="http://schemas.openxmlformats.org/drawingml/2006/main">
              <a:ext uri="{FF2B5EF4-FFF2-40B4-BE49-F238E27FC236}">
                <a16:creationId xmlns:a16="http://schemas.microsoft.com/office/drawing/2014/main" id="{EB38F823-4749-4FB6-8F45-4E105BEB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33650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E5 и BM25, индекс Qdrant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Контекст компании от backend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Ответы с разрешёнными источниками</a:t>
            </a:r>
          </a:p>
        </p:txBody>
      </p:sp>
      <p:sp>
        <p:nvSpPr>
          <p:cNvPr id="10" name="Локальный профиль: Qwen2.5 3B без платного API">
            <a:extLst xmlns:a="http://schemas.openxmlformats.org/drawingml/2006/main">
              <a:ext uri="{FF2B5EF4-FFF2-40B4-BE49-F238E27FC236}">
                <a16:creationId xmlns:a16="http://schemas.microsoft.com/office/drawing/2014/main" id="{CD2A42E5-BFA3-4B06-A1B9-67D74AB7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Локальный профиль: Qwen2.5 3B без платного API</a:t>
            </a:r>
          </a:p>
        </p:txBody>
      </p:sp>
      <p:sp>
        <p:nvSpPr>
          <p:cNvPr id="11" name="На серверном демо подтверждён поиск. Генерация сейчас недоступна">
            <a:extLst xmlns:a="http://schemas.openxmlformats.org/drawingml/2006/main">
              <a:ext uri="{FF2B5EF4-FFF2-40B4-BE49-F238E27FC236}">
                <a16:creationId xmlns:a16="http://schemas.microsoft.com/office/drawing/2014/main" id="{C3206753-DB8F-4DCB-96AE-8CC24EFF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C6C6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C6C6C6"/>
                </a:solidFill>
              </a:defRPr>
            </a:pPr>
            <a:r>
              <a:rPr sz="1725" b="0">
                <a:solidFill>
                  <a:srgbClr val="C6C6C6"/>
                </a:solidFill>
                <a:latin typeface="Arial"/>
                <a:ea typeface="Arial"/>
                <a:cs typeface="Arial"/>
              </a:rPr>
              <a:t>На серверном демо подтверждён поиск. Генерация сейчас недоступна</a:t>
            </a:r>
          </a:p>
        </p:txBody>
      </p:sp>
    </p:spTree>
    <p:extLst>
      <p:ext uri="{BB962C8B-B14F-4D97-AF65-F5344CB8AC3E}">
        <p14:creationId xmlns:p14="http://schemas.microsoft.com/office/powerpoint/2010/main" val="18421014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5E6C4-DEA8-4860-86EA-C3AABD13C1EE}"/>
              </a:ext>
            </a:extLst>
          </p:cNvPr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 flipH="1">
            <a:off x="7553325" y="4000500"/>
            <a:ext cx="2800350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B768B3-0E90-41BA-9F54-9B2F4431850D}"/>
              </a:ext>
            </a:extLst>
          </p:cNvPr>
          <p:cNvCxnSpPr>
            <a:stCxn xmlns:a="http://schemas.openxmlformats.org/drawingml/2006/main" id="22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5991225" y="4000500"/>
            <a:ext cx="1562100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9D006B-7164-4A47-9B18-9F4A6C497A8B}"/>
              </a:ext>
            </a:extLst>
          </p:cNvPr>
          <p:cNvCxnSpPr>
            <a:stCxn xmlns:a="http://schemas.openxmlformats.org/drawingml/2006/main" id="23" idx="2"/>
            <a:endCxn xmlns:a="http://schemas.openxmlformats.org/drawingml/2006/main" id="24" idx="0"/>
          </p:cNvCxnSpPr>
          <p:nvPr/>
        </p:nvCxnSpPr>
        <p:spPr>
          <a:xfrm xmlns:a="http://schemas.openxmlformats.org/drawingml/2006/main">
            <a:off x="10353675" y="400050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00603-9288-4F9F-B3BF-0A2CF86FA875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5991225" y="2381250"/>
            <a:ext cx="43624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1045E-0D8D-4700-B5C2-A336B63F7835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5991225" y="23812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C9EA52-3639-4934-A1AD-0352516CE337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1800225" y="4000500"/>
            <a:ext cx="2962275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87A98-FB79-45C3-ADB6-061D0E751B74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1800225" y="400050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199F8-C8D9-4CA9-9436-5D208C1DD311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 flipH="1">
            <a:off x="1800225" y="2381250"/>
            <a:ext cx="419100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2BF75-14E3-4C14-A8AB-969CFC29F646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343775" y="2047875"/>
            <a:ext cx="18002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19E764-D665-4302-8E14-746B98A44923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2990850" y="2047875"/>
            <a:ext cx="1647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7777"/>
            </a:solidFill>
            <a:tailEnd type="arrow" w="med" len="med"/>
          </a:ln>
        </p:spPr>
      </p:cxnSp>
      <p:sp>
        <p:nvSpPr>
          <p:cNvPr id="1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D2E35224-53BD-4C31-85A1-3357F17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52B22"/>
                </a:solidFill>
              </a:defRPr>
            </a:pPr>
            <a:r>
              <a:rPr sz="97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13" name="Фактическая архитектура MVP">
            <a:extLst xmlns:a="http://schemas.openxmlformats.org/drawingml/2006/main">
              <a:ext uri="{FF2B5EF4-FFF2-40B4-BE49-F238E27FC236}">
                <a16:creationId xmlns:a16="http://schemas.microsoft.com/office/drawing/2014/main" id="{2BD847A6-B2C6-4D91-97E1-F3C3FBA9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171717"/>
                </a:solidFill>
              </a:defRPr>
            </a:pPr>
            <a:r>
              <a:rPr sz="36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Фактическая архитектура MVP</a:t>
            </a:r>
          </a:p>
        </p:txBody>
      </p:sp>
      <p:sp>
        <p:nvSpPr>
          <p:cNvPr id="1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1BFAE3CC-DD68-4C8D-BF8E-77C5D943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15" name="10">
            <a:extLst xmlns:a="http://schemas.openxmlformats.org/drawingml/2006/main">
              <a:ext uri="{FF2B5EF4-FFF2-40B4-BE49-F238E27FC236}">
                <a16:creationId xmlns:a16="http://schemas.microsoft.com/office/drawing/2014/main" id="{6DF5A0FF-4B98-4A2D-9A77-D0D5DD80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6" name="React / Nginx">
            <a:extLst xmlns:a="http://schemas.openxmlformats.org/drawingml/2006/main">
              <a:ext uri="{FF2B5EF4-FFF2-40B4-BE49-F238E27FC236}">
                <a16:creationId xmlns:a16="http://schemas.microsoft.com/office/drawing/2014/main" id="{221ABF96-321D-44D2-85BF-EF17319B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React / Nginx</a:t>
            </a:r>
          </a:p>
        </p:txBody>
      </p:sp>
      <p:sp>
        <p:nvSpPr>
          <p:cNvPr id="17" name="Spring Boot">
            <a:extLst xmlns:a="http://schemas.openxmlformats.org/drawingml/2006/main">
              <a:ext uri="{FF2B5EF4-FFF2-40B4-BE49-F238E27FC236}">
                <a16:creationId xmlns:a16="http://schemas.microsoft.com/office/drawing/2014/main" id="{AF44B2E5-2E74-48A6-A22F-9BB7416D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714500"/>
            <a:ext cx="2705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2B22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Spring Boot</a:t>
            </a:r>
          </a:p>
        </p:txBody>
      </p:sp>
      <p:sp>
        <p:nvSpPr>
          <p:cNvPr id="18" name="PostgreSQL">
            <a:extLst xmlns:a="http://schemas.openxmlformats.org/drawingml/2006/main">
              <a:ext uri="{FF2B5EF4-FFF2-40B4-BE49-F238E27FC236}">
                <a16:creationId xmlns:a16="http://schemas.microsoft.com/office/drawing/2014/main" id="{C065072E-04FB-405E-ADCF-AAE9C577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419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9" name="ML bridge">
            <a:extLst xmlns:a="http://schemas.openxmlformats.org/drawingml/2006/main">
              <a:ext uri="{FF2B5EF4-FFF2-40B4-BE49-F238E27FC236}">
                <a16:creationId xmlns:a16="http://schemas.microsoft.com/office/drawing/2014/main" id="{870AF61E-6D30-4BB8-939A-D2BEB273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ML bridge</a:t>
            </a:r>
          </a:p>
        </p:txBody>
      </p:sp>
      <p:sp>
        <p:nvSpPr>
          <p:cNvPr id="20" name="CatBoost Risk">
            <a:extLst xmlns:a="http://schemas.openxmlformats.org/drawingml/2006/main">
              <a:ext uri="{FF2B5EF4-FFF2-40B4-BE49-F238E27FC236}">
                <a16:creationId xmlns:a16="http://schemas.microsoft.com/office/drawing/2014/main" id="{54BB794C-0203-477E-8B1D-BC5EEFE5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CatBoost Risk</a:t>
            </a:r>
          </a:p>
        </p:txBody>
      </p:sp>
      <p:sp>
        <p:nvSpPr>
          <p:cNvPr id="21" name="E5 Feed">
            <a:extLst xmlns:a="http://schemas.openxmlformats.org/drawingml/2006/main">
              <a:ext uri="{FF2B5EF4-FFF2-40B4-BE49-F238E27FC236}">
                <a16:creationId xmlns:a16="http://schemas.microsoft.com/office/drawing/2014/main" id="{5F6CA44B-C7E0-48B8-97B8-CD13478F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76250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E5 Feed</a:t>
            </a:r>
          </a:p>
        </p:txBody>
      </p:sp>
      <p:sp>
        <p:nvSpPr>
          <p:cNvPr id="22" name="ClamAV / OCR">
            <a:extLst xmlns:a="http://schemas.openxmlformats.org/drawingml/2006/main">
              <a:ext uri="{FF2B5EF4-FFF2-40B4-BE49-F238E27FC236}">
                <a16:creationId xmlns:a16="http://schemas.microsoft.com/office/drawing/2014/main" id="{C32AD83C-ABFE-437E-983E-92494CBC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333750"/>
            <a:ext cx="2705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ClamAV / OCR</a:t>
            </a:r>
          </a:p>
        </p:txBody>
      </p:sp>
      <p:sp>
        <p:nvSpPr>
          <p:cNvPr id="23" name="RAG-ассистент">
            <a:extLst xmlns:a="http://schemas.openxmlformats.org/drawingml/2006/main">
              <a:ext uri="{FF2B5EF4-FFF2-40B4-BE49-F238E27FC236}">
                <a16:creationId xmlns:a16="http://schemas.microsoft.com/office/drawing/2014/main" id="{F1D4057C-3204-49BC-8440-BEC71C02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33750"/>
            <a:ext cx="2419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RAG-ассистент</a:t>
            </a:r>
          </a:p>
        </p:txBody>
      </p:sp>
      <p:sp>
        <p:nvSpPr>
          <p:cNvPr id="24" name="Qdrant / SQLite">
            <a:extLst xmlns:a="http://schemas.openxmlformats.org/drawingml/2006/main">
              <a:ext uri="{FF2B5EF4-FFF2-40B4-BE49-F238E27FC236}">
                <a16:creationId xmlns:a16="http://schemas.microsoft.com/office/drawing/2014/main" id="{4D9F2E2E-0460-47D4-9E44-176DD0E4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762500"/>
            <a:ext cx="2419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Qdrant / SQLite</a:t>
            </a:r>
          </a:p>
        </p:txBody>
      </p:sp>
      <p:sp>
        <p:nvSpPr>
          <p:cNvPr id="25" name="LLM · Qwen local">
            <a:extLst xmlns:a="http://schemas.openxmlformats.org/drawingml/2006/main">
              <a:ext uri="{FF2B5EF4-FFF2-40B4-BE49-F238E27FC236}">
                <a16:creationId xmlns:a16="http://schemas.microsoft.com/office/drawing/2014/main" id="{DFF4594D-E6D0-4AF9-9DC5-6BFFDBC0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62500"/>
            <a:ext cx="2305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2F0"/>
          </a:solidFill>
          <a:ln xmlns:a="http://schemas.openxmlformats.org/drawingml/2006/main" w="9525">
            <a:solidFill>
              <a:srgbClr val="D7D3D0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LLM · Qwen local</a:t>
            </a:r>
          </a:p>
        </p:txBody>
      </p:sp>
      <p:sp>
        <p:nvSpPr>
          <p:cNvPr id="26" name="Внешний доступ: сервер и ngrok. Redis / Kafka / S3 предусмотрены">
            <a:extLst xmlns:a="http://schemas.openxmlformats.org/drawingml/2006/main">
              <a:ext uri="{FF2B5EF4-FFF2-40B4-BE49-F238E27FC236}">
                <a16:creationId xmlns:a16="http://schemas.microsoft.com/office/drawing/2014/main" id="{E818AF63-EB0D-4767-83DA-14D4111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Внешний доступ: сервер и ngrok. Redis / Kafka / S3 предусмотрены для развития</a:t>
            </a:r>
          </a:p>
        </p:txBody>
      </p:sp>
    </p:spTree>
    <p:extLst>
      <p:ext uri="{BB962C8B-B14F-4D97-AF65-F5344CB8AC3E}">
        <p14:creationId xmlns:p14="http://schemas.microsoft.com/office/powerpoint/2010/main" val="11478716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АЛЬФА ХАК 2026">
            <a:extLst xmlns:a="http://schemas.openxmlformats.org/drawingml/2006/main">
              <a:ext uri="{FF2B5EF4-FFF2-40B4-BE49-F238E27FC236}">
                <a16:creationId xmlns:a16="http://schemas.microsoft.com/office/drawing/2014/main" id="{85048724-BCA7-42D1-A8DD-1F2C6D44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52B22"/>
                </a:solidFill>
              </a:defRPr>
            </a:pPr>
            <a:r>
              <a:rPr sz="97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Технологии банковского внедрения">
            <a:extLst xmlns:a="http://schemas.openxmlformats.org/drawingml/2006/main">
              <a:ext uri="{FF2B5EF4-FFF2-40B4-BE49-F238E27FC236}">
                <a16:creationId xmlns:a16="http://schemas.microsoft.com/office/drawing/2014/main" id="{D1BADAF3-DE99-470E-A880-8BEC2C8B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75" b="1">
                <a:solidFill>
                  <a:srgbClr val="171717"/>
                </a:solidFill>
              </a:defRPr>
            </a:pPr>
            <a:r>
              <a:rPr sz="36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Технологии банковского внедрения</a:t>
            </a:r>
          </a:p>
        </p:txBody>
      </p:sp>
      <p:sp>
        <p:nvSpPr>
          <p:cNvPr id="4" name="Поток / Gambit_Yvaga">
            <a:extLst xmlns:a="http://schemas.openxmlformats.org/drawingml/2006/main">
              <a:ext uri="{FF2B5EF4-FFF2-40B4-BE49-F238E27FC236}">
                <a16:creationId xmlns:a16="http://schemas.microsoft.com/office/drawing/2014/main" id="{581A8A95-C6A3-4774-9A8A-8B6DFB65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11">
            <a:extLst xmlns:a="http://schemas.openxmlformats.org/drawingml/2006/main">
              <a:ext uri="{FF2B5EF4-FFF2-40B4-BE49-F238E27FC236}">
                <a16:creationId xmlns:a16="http://schemas.microsoft.com/office/drawing/2014/main" id="{67AC0D8E-A61E-459B-BD34-748CB8C7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5795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Конкретные изменения инфраструктуры и AI, которые требуют отдель">
            <a:extLst xmlns:a="http://schemas.openxmlformats.org/drawingml/2006/main">
              <a:ext uri="{FF2B5EF4-FFF2-40B4-BE49-F238E27FC236}">
                <a16:creationId xmlns:a16="http://schemas.microsoft.com/office/drawing/2014/main" id="{5B4AC3E9-269B-4958-9F0E-8A552BCF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26262"/>
                </a:solidFill>
              </a:defRPr>
            </a:pPr>
            <a:r>
              <a:rPr sz="17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Конкретные изменения инфраструктуры и AI, которые требуют отдельного внедрения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16BA7-8FED-4379-8DEE-DAD2CC59E5CC}"/>
              </a:ext>
            </a:extLst>
          </p:cNvPr>
          <p:cNvGraphicFramePr/>
          <p:nvPr/>
        </p:nvGraphicFramePr>
        <p:xfrm>
          <a:off xmlns:a="http://schemas.openxmlformats.org/drawingml/2006/main" x="533400" y="2000250"/>
          <a:ext xmlns:a="http://schemas.openxmlformats.org/drawingml/2006/main" cx="111252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105150"/>
                <a:gridCol w="5638800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Слой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Сейчас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Кандидат для банковского контура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T w="4763">
                      <a:solidFill>
                        <a:srgbClr val="D7D3D0"/>
                      </a:solidFill>
                      <a:prstDash val="solid"/>
                    </a:lnT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52B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LLM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Qwen2.5 3B / Ollama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Qwen3-32B / vLLM / GPU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Данные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Одиночный PostgreSQL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PostgreSQL / Patroni / pgBackRest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Внешний доступ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ngrok, публичный HTTPS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Домен банка / WAF / TLS / cert-manager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Доступ и секреты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Demo-логины, .env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Keycloak / OIDC / MFA / OpenBao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Документы и события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Файловый том, outbox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Ceph S3 / Kafka с сохранением outbox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Эксплуатация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7D3D0"/>
                      </a:solidFill>
                      <a:prstDash val="solid"/>
                    </a:lnL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Compose, healthchecks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Kubernetes / Prometheus / Grafana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7D3D0"/>
                      </a:solidFill>
                      <a:prstDash val="solid"/>
                    </a:lnR>
                    <a:lnB w="4763">
                      <a:solidFill>
                        <a:srgbClr val="D7D3D0"/>
                      </a:solidFill>
                      <a:prstDash val="solid"/>
                    </a:lnB>
                    <a:solidFill>
                      <a:srgbClr val="F4F2F0"/>
                    </a:solidFill>
                  </a:tcPr>
                </a:tc>
              </a:tr>
            </a:tbl>
          </a:graphicData>
        </a:graphic>
      </p:graphicFrame>
      <p:sp>
        <p:nvSpPr>
          <p:cNvPr id="8" name="Сильнее модель выбираем по оценке качества. PostgreSQL сохраняем">
            <a:extLst xmlns:a="http://schemas.openxmlformats.org/drawingml/2006/main">
              <a:ext uri="{FF2B5EF4-FFF2-40B4-BE49-F238E27FC236}">
                <a16:creationId xmlns:a16="http://schemas.microsoft.com/office/drawing/2014/main" id="{A746E319-6DB6-40A0-B9F7-D11D13D2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0"/>
            <a:ext cx="11125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52B22"/>
                </a:solidFill>
              </a:defRPr>
            </a:pPr>
            <a:r>
              <a:rPr sz="172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Сильнее модель выбираем по оценке качества. PostgreSQL сохраняем и делаем отказоустойчивым</a:t>
            </a:r>
          </a:p>
        </p:txBody>
      </p:sp>
    </p:spTree>
    <p:extLst>
      <p:ext uri="{BB962C8B-B14F-4D97-AF65-F5344CB8AC3E}">
        <p14:creationId xmlns:p14="http://schemas.microsoft.com/office/powerpoint/2010/main" val="1623024529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АЛЬФА ХАК 2026">
            <a:extLst>
              <a:ext uri="{FF2B5EF4-FFF2-40B4-BE49-F238E27FC236}">
                <ns2:creationId id="{167E81AC-75B8-4904-A935-567F29D7A87B}"/>
              </a:ext>
            </a:extLst>
          </p:cNvPr>
          <p:cNvSpPr>
            <a:spLocks noGrp="1"/>
          </p:cNvSpPr>
          <p:nvPr/>
        </p:nvSpPr>
        <p:spPr>
          <a:xfrm>
            <a:off x="533400" y="24765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975" b="1">
                <a:solidFill>
                  <a:srgbClr val="F52B22"/>
                </a:solidFill>
              </a:defRPr>
            </a:pPr>
            <a:r>
              <a:rPr sz="975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АЛЬФА ХАК 2026</a:t>
            </a:r>
          </a:p>
        </p:txBody>
      </p:sp>
      <p:sp>
        <p:nvSpPr>
          <p:cNvPr id="3" name="Демо и исходный код">
            <a:extLst>
              <a:ext uri="{FF2B5EF4-FFF2-40B4-BE49-F238E27FC236}">
                <ns2:creationId id="{0D5B46C7-C8D3-47A6-ACE9-660A41318B4A}"/>
              </a:ext>
            </a:extLst>
          </p:cNvPr>
          <p:cNvSpPr>
            <a:spLocks noGrp="1"/>
          </p:cNvSpPr>
          <p:nvPr/>
        </p:nvSpPr>
        <p:spPr>
          <a:xfrm>
            <a:off x="533400" y="666750"/>
            <a:ext cx="11125200" cy="10096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3675" b="1">
                <a:solidFill>
                  <a:srgbClr val="171717"/>
                </a:solidFill>
              </a:defRPr>
            </a:pPr>
            <a:r>
              <a:rPr sz="36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Демо и исходный код</a:t>
            </a:r>
          </a:p>
        </p:txBody>
      </p:sp>
      <p:sp>
        <p:nvSpPr>
          <p:cNvPr id="4" name="Поток / Gambit_Yvaga">
            <a:extLst>
              <a:ext uri="{FF2B5EF4-FFF2-40B4-BE49-F238E27FC236}">
                <ns2:creationId id="{675D2875-5397-4E1D-B3E1-9DFFFC3B7679}"/>
              </a:ext>
            </a:extLst>
          </p:cNvPr>
          <p:cNvSpPr>
            <a:spLocks noGrp="1"/>
          </p:cNvSpPr>
          <p:nvPr/>
        </p:nvSpPr>
        <p:spPr>
          <a:xfrm>
            <a:off x="533400" y="6457950"/>
            <a:ext cx="6858000" cy="2286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Поток / Gambit_Yvaga</a:t>
            </a:r>
          </a:p>
        </p:txBody>
      </p:sp>
      <p:sp>
        <p:nvSpPr>
          <p:cNvPr id="5" name="12">
            <a:extLst>
              <a:ext uri="{FF2B5EF4-FFF2-40B4-BE49-F238E27FC236}">
                <ns2:creationId id="{E1669CC8-A96D-4A66-A5ED-055FEC002435}"/>
              </a:ext>
            </a:extLst>
          </p:cNvPr>
          <p:cNvSpPr>
            <a:spLocks noGrp="1"/>
          </p:cNvSpPr>
          <p:nvPr/>
        </p:nvSpPr>
        <p:spPr>
          <a:xfrm>
            <a:off x="11029950" y="6457950"/>
            <a:ext cx="628650" cy="2286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r">
              <a:defRPr sz="1125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defRPr sz="1125" b="0">
                <a:solidFill>
                  <a:srgbClr val="626262"/>
                </a:solidFill>
              </a:defRPr>
            </a:pPr>
            <a:r>
              <a:rPr sz="1125" b="0">
                <a:solidFill>
                  <a:srgbClr val="62626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6" name="">
            <a:extLst>
              <a:ext uri="{FF2B5EF4-FFF2-40B4-BE49-F238E27FC236}">
                <ns2:creationId id="{D9EB3E3E-8F31-4975-8FD2-DF2B224302F9}"/>
              </a:ext>
            </a:extLst>
            <a:hlinkClick r:id="rIdJuryDemo"/>
          </p:cNvPr>
          <p:cNvPicPr>
            <a:picLocks noChangeAspect="1"/>
          </p:cNvPicPr>
          <p:nvPr/>
        </p:nvPicPr>
        <p:blipFill>
          <a:blip r:embed="Rcbf32e392e3f4bdd"/>
          <a:stretch/>
        </p:blipFill>
        <p:spPr>
          <a:xfrm>
            <a:off x="609600" y="1562100"/>
            <a:ext cx="1562100" cy="1562100"/>
          </a:xfrm>
          <a:prstGeom prst="rect">
            <a:avLst/>
          </a:prstGeom>
        </p:spPr>
      </p:pic>
      <p:sp>
        <p:nvSpPr>
          <p:cNvPr id="7" name="Работающий сервис">
            <a:extLst>
              <a:ext uri="{FF2B5EF4-FFF2-40B4-BE49-F238E27FC236}">
                <ns2:creationId id="{8E017A51-64BC-41B2-A93C-8683449687BC}"/>
              </a:ext>
            </a:extLst>
          </p:cNvPr>
          <p:cNvSpPr>
            <a:spLocks noGrp="1"/>
          </p:cNvSpPr>
          <p:nvPr/>
        </p:nvSpPr>
        <p:spPr>
          <a:xfrm>
            <a:off x="2552700" y="1581150"/>
            <a:ext cx="8572500" cy="4953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2400" b="1">
                <a:solidFill>
                  <a:srgbClr val="F52B22"/>
                </a:solidFill>
              </a:defRPr>
            </a:pPr>
            <a:r>
              <a:rPr sz="240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Работающий сервис</a:t>
            </a:r>
          </a:p>
        </p:txBody>
      </p:sp>
      <p:sp>
        <p:nvSpPr>
          <p:cNvPr id="8" name="https://president-diameter-endearing.ngrok-free.dev">
            <a:extLst>
              <a:ext uri="{FF2B5EF4-FFF2-40B4-BE49-F238E27FC236}">
                <ns2:creationId id="{80807146-1034-496A-BC38-300B8DC494EA}"/>
              </a:ext>
            </a:extLst>
          </p:cNvPr>
          <p:cNvSpPr>
            <a:spLocks noGrp="1"/>
          </p:cNvSpPr>
          <p:nvPr/>
        </p:nvSpPr>
        <p:spPr>
          <a:xfrm>
            <a:off x="2552700" y="2228850"/>
            <a:ext cx="8782050" cy="6667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800" b="0">
                <a:solidFill>
                  <a:srgbClr val="171717"/>
                </a:solidFill>
              </a:defRPr>
            </a:pPr>
            <a:r>
              <a:rPr sz="1800" b="0">
                <a:solidFill>
                  <a:srgbClr val="171717"/>
                </a:solidFill>
                <a:latin typeface="Arial"/>
                <a:ea typeface="Arial"/>
                <a:cs typeface="Arial"/>
                <a:hlinkClick r:id="rIdJuryDemo"/>
              </a:rPr>
              <a:t>https://president-diameter-endearing.ngrok-free.dev</a:t>
            </a:r>
          </a:p>
        </p:txBody>
      </p:sp>
      <p:pic>
        <p:nvPicPr>
          <p:cNvPr id="9" name="">
            <a:extLst>
              <a:ext uri="{FF2B5EF4-FFF2-40B4-BE49-F238E27FC236}">
                <ns2:creationId id="{A5AD2746-21A8-4BAF-B1E4-7D6BF2983B37}"/>
              </a:ext>
            </a:extLst>
            <a:hlinkClick r:id="rIdJuryTag"/>
          </p:cNvPr>
          <p:cNvPicPr>
            <a:picLocks noChangeAspect="1"/>
          </p:cNvPicPr>
          <p:nvPr/>
        </p:nvPicPr>
        <p:blipFill>
          <a:blip r:embed="R0b919cd8d1f046cc"/>
          <a:stretch/>
        </p:blipFill>
        <p:spPr>
          <a:xfrm>
            <a:off x="609600" y="3429000"/>
            <a:ext cx="1562100" cy="1562100"/>
          </a:xfrm>
          <a:prstGeom prst="rect">
            <a:avLst/>
          </a:prstGeom>
        </p:spPr>
      </p:pic>
      <p:sp>
        <p:nvSpPr>
          <p:cNvPr id="10" name="Репозиторий и документация">
            <a:extLst>
              <a:ext uri="{FF2B5EF4-FFF2-40B4-BE49-F238E27FC236}">
                <ns2:creationId id="{9FBB6406-DBC9-42F3-92F2-3917442A5F38}"/>
              </a:ext>
            </a:extLst>
          </p:cNvPr>
          <p:cNvSpPr>
            <a:spLocks noGrp="1"/>
          </p:cNvSpPr>
          <p:nvPr/>
        </p:nvSpPr>
        <p:spPr>
          <a:xfrm>
            <a:off x="2552700" y="3409950"/>
            <a:ext cx="8572500" cy="4953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1">
                <a:solidFill>
                  <a:srgbClr val="F52B2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2400" b="1">
                <a:solidFill>
                  <a:srgbClr val="F52B22"/>
                </a:solidFill>
              </a:defRPr>
            </a:pPr>
            <a:r>
              <a:rPr sz="2400" b="1">
                <a:solidFill>
                  <a:srgbClr val="F52B22"/>
                </a:solidFill>
                <a:latin typeface="Arial"/>
                <a:ea typeface="Arial"/>
                <a:cs typeface="Arial"/>
              </a:rPr>
              <a:t>Репозиторий и документация</a:t>
            </a:r>
          </a:p>
        </p:txBody>
      </p:sp>
      <p:sp>
        <p:nvSpPr>
          <p:cNvPr id="11" name="github.com/Tonitrus1/ALFA-HACK-2026">
            <a:extLst>
              <a:ext uri="{FF2B5EF4-FFF2-40B4-BE49-F238E27FC236}">
                <ns2:creationId id="{7D3A7428-C94B-4108-861F-EACEC731CBC5}"/>
              </a:ext>
            </a:extLst>
          </p:cNvPr>
          <p:cNvSpPr>
            <a:spLocks noGrp="1"/>
          </p:cNvSpPr>
          <p:nvPr/>
        </p:nvSpPr>
        <p:spPr>
          <a:xfrm>
            <a:off x="2552700" y="4048125"/>
            <a:ext cx="8782050" cy="4191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875" b="0">
                <a:solidFill>
                  <a:srgbClr val="171717"/>
                </a:solidFill>
              </a:defRPr>
            </a:pPr>
            <a:r>
              <a:rPr sz="1875" b="0">
                <a:solidFill>
                  <a:srgbClr val="171717"/>
                </a:solidFill>
                <a:latin typeface="Arial"/>
                <a:ea typeface="Arial"/>
                <a:cs typeface="Arial"/>
                <a:hlinkClick r:id="rIdJuryRepo"/>
              </a:rPr>
              <a:t>github.com/Tonitrus1/ALFA-HACK-2026</a:t>
            </a:r>
          </a:p>
        </p:txBody>
      </p:sp>
      <p:sp>
        <p:nvSpPr>
          <p:cNvPr id="12" name="submission-2026-10-26">
            <a:extLst>
              <a:ext uri="{FF2B5EF4-FFF2-40B4-BE49-F238E27FC236}">
                <ns2:creationId id="{C6A00A4E-E950-4F01-9E4B-D7F5871F0D8E}"/>
              </a:ext>
            </a:extLst>
          </p:cNvPr>
          <p:cNvSpPr>
            <a:spLocks noGrp="1"/>
          </p:cNvSpPr>
          <p:nvPr/>
        </p:nvSpPr>
        <p:spPr>
          <a:xfrm>
            <a:off x="2552700" y="4552950"/>
            <a:ext cx="8782050" cy="3619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62626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650" b="0">
                <a:solidFill>
                  <a:srgbClr val="626262"/>
                </a:solidFill>
              </a:defRPr>
            </a:pPr>
            <a:r>
              <a:rPr sz="1650" b="0">
                <a:solidFill>
                  <a:srgbClr val="626262"/>
                </a:solidFill>
                <a:latin typeface="Arial"/>
                <a:ea typeface="Arial"/>
                <a:cs typeface="Arial"/>
                <a:hlinkClick r:id="rIdJuryTag"/>
              </a:rPr>
              <a:t>submission-2026-10-26</a:t>
            </a:r>
          </a:p>
        </p:txBody>
      </p:sp>
      <p:sp>
        <p:nvSpPr>
          <p:cNvPr id="13" name="company-a   xc-fWfKQYhasOO_xpEB4h3VFXHHA9HAv8YlunS2YM8VLvqJ4">
            <a:extLst>
              <a:ext uri="{FF2B5EF4-FFF2-40B4-BE49-F238E27FC236}">
                <ns2:creationId id="{CB775E1B-82E8-49CA-A01A-C0DDAF0C4987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34700" cy="3429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500" b="0">
                <a:solidFill>
                  <a:srgbClr val="171717"/>
                </a:solidFill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company-a   xc-fWfKQYhasOO_xpEB4h3VFXHHA9HAv8YlunS2YM8VLvqJ4</a:t>
            </a:r>
          </a:p>
        </p:txBody>
      </p:sp>
      <p:sp>
        <p:nvSpPr>
          <p:cNvPr id="14" name="company-b   5ykMqYlqwkXTGc8cqGKYDz8hwBeHT89LzPpDQL3l-ecI5MrJ">
            <a:extLst>
              <a:ext uri="{FF2B5EF4-FFF2-40B4-BE49-F238E27FC236}">
                <ns2:creationId id="{F6E6DB58-DD06-44DA-B724-0614E721617C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10934700" cy="3429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500" b="0">
                <a:solidFill>
                  <a:srgbClr val="171717"/>
                </a:solidFill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company-b   5ykMqYlqwkXTGc8cqGKYDz8hwBeHT89LzPpDQL3l-ecI5MrJ</a:t>
            </a:r>
          </a:p>
        </p:txBody>
      </p:sp>
    </p:spTree>
    <p:extLst>
      <p:ext uri="{BB962C8B-B14F-4D97-AF65-F5344CB8AC3E}">
        <ns4:creationId val="12916183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2026-10-26T13:02:49.2430000Z</dcterms:created>
  <dcterms:modified xsi:type="dcterms:W3CDTF">2026-10-26T13:02:49.2430000Z</dcterms:modified>
</coreProperties>
</file>