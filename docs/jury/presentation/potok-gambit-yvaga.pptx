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40eee96f104ac0" /><Relationship Type="http://schemas.openxmlformats.org/officeDocument/2006/relationships/extended-properties" Target="/docProps/app.xml" Id="R99b9bdfde0d94a90" /><Relationship Type="http://schemas.openxmlformats.org/officeDocument/2006/relationships/officeDocument" Target="/ppt/presentation.xml" Id="Rab10983e6fd8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dcd0063df4852"/>
  </p:sldMasterIdLst>
  <p:notesMasterIdLst>
    <p:notesMasterId xmlns:r="http://schemas.openxmlformats.org/officeDocument/2006/relationships" r:id="Rd627b3780b05461b"/>
  </p:notesMasterIdLst>
  <p:sldIdLst>
    <p:sldId xmlns:r="http://schemas.openxmlformats.org/officeDocument/2006/relationships" id="256" r:id="Rdda6417c72474280"/>
    <p:sldId xmlns:r="http://schemas.openxmlformats.org/officeDocument/2006/relationships" id="257" r:id="Re63e569a2f95402a"/>
    <p:sldId xmlns:r="http://schemas.openxmlformats.org/officeDocument/2006/relationships" id="258" r:id="Rc876405ec4384112"/>
    <p:sldId xmlns:r="http://schemas.openxmlformats.org/officeDocument/2006/relationships" id="259" r:id="Re6a449f1e7104c8d"/>
    <p:sldId xmlns:r="http://schemas.openxmlformats.org/officeDocument/2006/relationships" id="260" r:id="R3af478768647423c"/>
    <p:sldId xmlns:r="http://schemas.openxmlformats.org/officeDocument/2006/relationships" id="261" r:id="R013bad861dd44231"/>
    <p:sldId xmlns:r="http://schemas.openxmlformats.org/officeDocument/2006/relationships" id="262" r:id="Rc6c4adb75d024a35"/>
    <p:sldId xmlns:r="http://schemas.openxmlformats.org/officeDocument/2006/relationships" id="263" r:id="Rf4807d9364254569"/>
    <p:sldId xmlns:r="http://schemas.openxmlformats.org/officeDocument/2006/relationships" id="264" r:id="Rf8667aa7fdfd42fc"/>
    <p:sldId xmlns:r="http://schemas.openxmlformats.org/officeDocument/2006/relationships" id="265" r:id="Rf7d9cc28c099469f"/>
    <p:sldId xmlns:r="http://schemas.openxmlformats.org/officeDocument/2006/relationships" id="266" r:id="Rc4667a84921f4175"/>
    <p:sldId xmlns:r="http://schemas.openxmlformats.org/officeDocument/2006/relationships" id="267" r:id="Rb0046a9c14cf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609c92fff42bf" /><Relationship Type="http://schemas.openxmlformats.org/officeDocument/2006/relationships/slideMaster" Target="/ppt/slideMasters/slideMaster1.xml" Id="Rddfdcd0063df4852" /><Relationship Type="http://schemas.openxmlformats.org/officeDocument/2006/relationships/notesMaster" Target="/ppt/notesMasters/notesMaster1.xml" Id="Rd627b3780b05461b" /><Relationship Type="http://schemas.openxmlformats.org/officeDocument/2006/relationships/presProps" Target="/ppt/presProps.xml" Id="Rf40f9c0e75264289" /><Relationship Type="http://schemas.openxmlformats.org/officeDocument/2006/relationships/tableStyles" Target="/ppt/tableStyles.xml" Id="Rfc9280e6106c44ba" /><Relationship Type="http://schemas.openxmlformats.org/officeDocument/2006/relationships/slide" Target="/ppt/slides/slide1.xml" Id="Rdda6417c72474280" /><Relationship Type="http://schemas.openxmlformats.org/officeDocument/2006/relationships/slide" Target="/ppt/slides/slide2.xml" Id="Re63e569a2f95402a" /><Relationship Type="http://schemas.openxmlformats.org/officeDocument/2006/relationships/slide" Target="/ppt/slides/slide3.xml" Id="Rc876405ec4384112" /><Relationship Type="http://schemas.openxmlformats.org/officeDocument/2006/relationships/slide" Target="/ppt/slides/slide4.xml" Id="Re6a449f1e7104c8d" /><Relationship Type="http://schemas.openxmlformats.org/officeDocument/2006/relationships/slide" Target="/ppt/slides/slide5.xml" Id="R3af478768647423c" /><Relationship Type="http://schemas.openxmlformats.org/officeDocument/2006/relationships/slide" Target="/ppt/slides/slide6.xml" Id="R013bad861dd44231" /><Relationship Type="http://schemas.openxmlformats.org/officeDocument/2006/relationships/slide" Target="/ppt/slides/slide7.xml" Id="Rc6c4adb75d024a35" /><Relationship Type="http://schemas.openxmlformats.org/officeDocument/2006/relationships/slide" Target="/ppt/slides/slide8.xml" Id="Rf4807d9364254569" /><Relationship Type="http://schemas.openxmlformats.org/officeDocument/2006/relationships/slide" Target="/ppt/slides/slide9.xml" Id="Rf8667aa7fdfd42fc" /><Relationship Type="http://schemas.openxmlformats.org/officeDocument/2006/relationships/slide" Target="/ppt/slides/slide10.xml" Id="Rf7d9cc28c099469f" /><Relationship Type="http://schemas.openxmlformats.org/officeDocument/2006/relationships/slide" Target="/ppt/slides/slide11.xml" Id="Rc4667a84921f4175" /><Relationship Type="http://schemas.openxmlformats.org/officeDocument/2006/relationships/slide" Target="/ppt/slides/slide12.xml" Id="Rb0046a9c14cf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21aa52e3684f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01a7dcf4a4449e" /><Relationship Type="http://schemas.openxmlformats.org/officeDocument/2006/relationships/notesMaster" Target="/ppt/notesMasters/notesMaster1.xml" Id="R4b6547b12f1a45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520ec20ac24dc5" /><Relationship Type="http://schemas.openxmlformats.org/officeDocument/2006/relationships/notesMaster" Target="/ppt/notesMasters/notesMaster1.xml" Id="R5e92532ef87f47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71c35efd44000" /><Relationship Type="http://schemas.openxmlformats.org/officeDocument/2006/relationships/notesMaster" Target="/ppt/notesMasters/notesMaster1.xml" Id="R7c69870fa8ef46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96e4e8a3354b23" /><Relationship Type="http://schemas.openxmlformats.org/officeDocument/2006/relationships/notesMaster" Target="/ppt/notesMasters/notesMaster1.xml" Id="Re1e1a85cf8834d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13aa0dcf694c64" /><Relationship Type="http://schemas.openxmlformats.org/officeDocument/2006/relationships/notesMaster" Target="/ppt/notesMasters/notesMaster1.xml" Id="Raccf545e865541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fcf072670d4d85" /><Relationship Type="http://schemas.openxmlformats.org/officeDocument/2006/relationships/notesMaster" Target="/ppt/notesMasters/notesMaster1.xml" Id="Rb9c7492b33aa4c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8bddd50f074c32" /><Relationship Type="http://schemas.openxmlformats.org/officeDocument/2006/relationships/notesMaster" Target="/ppt/notesMasters/notesMaster1.xml" Id="R08da0e42741849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ea114fd514a3c" /><Relationship Type="http://schemas.openxmlformats.org/officeDocument/2006/relationships/notesMaster" Target="/ppt/notesMasters/notesMaster1.xml" Id="Rde88892e74d2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b62b2a09cf4d7d" /><Relationship Type="http://schemas.openxmlformats.org/officeDocument/2006/relationships/notesMaster" Target="/ppt/notesMasters/notesMaster1.xml" Id="R2186e186bd7e49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a73c3d28224499" /><Relationship Type="http://schemas.openxmlformats.org/officeDocument/2006/relationships/notesMaster" Target="/ppt/notesMasters/notesMaster1.xml" Id="R73260ff0041746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8ef0b14c5b474b" /><Relationship Type="http://schemas.openxmlformats.org/officeDocument/2006/relationships/notesMaster" Target="/ppt/notesMasters/notesMaster1.xml" Id="R60607533b81c47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ddf17feb7d4850" /><Relationship Type="http://schemas.openxmlformats.org/officeDocument/2006/relationships/notesMaster" Target="/ppt/notesMasters/notesMaster1.xml" Id="Re69a21029f8542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Мы сделали связанный кредитный путь для предпринимателя: от потребности до результата по заявке. Это работающий демонстрационный MVP, который можно самостоятельно открыть и запустить.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docs/jury/README.md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0:20–0:50. Кейс включает не только анкету: клиент выбирает продукт, готовит данные и должен понимать движение заявки. Банку важно сохранить связность рассмотрения. Мы исходили из этих задач. Подтверждённый CustDev и измеренную экономию времени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Предоставленный кейс, страницы 4–9; docs/jury/requirements.md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0:50–1:15. Кабинет сохраняет введённые данные и показывает следующий шаг. Backend фиксирует версии и снимки для рассмотрения. Помощник и OCR встроены в путь, при этом ручной ввод и основная кредитная логика остаются доступны.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docs/jury/architecture.md; docs/jury/data-model.md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1:15–1:45. Пользователь выбирает потребность и продукт, вводит сведения и финансы, может добавить документы. После подачи система рассматривает заявку. При запросе уточнения клиент дополняет исходное дело. Принятие предложения и демооформление завершают путь без реальной выдачи.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docs/jury/architecture.md; docs/jury/demo.md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1:45–2:10. Это реальный экран опубликованного сервиса, не макет. Покажем сохранённую заявку и следующий шаг. Ниже располагается персональная подборка материалов. При обновлении страницы данные читаются с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docs/jury/assets/workspace-detail.png, реальный серверный UI 26.10.2026; docs/jury/evidence/live-readonly.json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2:10–2:45. Скоринг возвращает оценку риска, а итог определяет отдельная продуктовая политика с проверкой данных и ограничений. Часть правил применяется ещё до модели. Сбой Risk ведёт к MANUAL. Его завершение сотрудником пока не реализовано. Пороги искусственные, score не является банковской PD.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backend/app/src/main/java/ru/alfahack/credit/integration/domain/DemoPolicyV1.java; ml/artifacts/baseline/model-card.md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2:45–3:20. Антивирусная проверка предшествует OCR. Модель предлагает значения, привязанные к источнику и версии файла. Пользователь проверяет период, единицы и все значимые поля. Можно объединить несколько документов и дополнить пропуски вручную. Для live-показа подготовлен только синтетический материал.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docs/jury/architecture.md; docs/jury/assets/financial-form.png; reports/local-qwen3b/ocr-validation.json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3:20–4:00. Лента ранжирует авторские материалы по типизированному профилю и контексту. Ассистент получает права и продукты от backend и использует разрешённые источники. Он не принимает кредитных решений и не меняет заявку. При свежей онлайн-проверке сервер вернул SEARCH_ONLY с источниками: поиск работает, генерация недоступна. Это не выдаётся за полноценный LLM-ответ. Ранее реальная генерация локальной Qwen проверялась отдельно. Research License требует отдельного решения для коммерческого внедрения.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docs/jury/architecture.md; docs/jury/evidence/live-assistant.json; reports/local-qwen3b/validation.json; THIRD_PARTY_NOTICES.md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4:00–4:40. Backend представляет модульный монолит с общей транзакционной базой, ML/OCR/RAG работают отдельно. Сессии и бизнес-события сохраняются в PostgreSQL. Документы лежат в версионированном томе, Qdrant действительно подключён. Стрелка к локальной Qwen описывает поддерживаемый local-профиль, а точный режим модели публичного сервера этим слайдом не утверждается. SearXNG, отдельная ML DB, init/worker процессы показаны в полной документации.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compose.yaml; deploy/compose.local-llm.yaml; docs/jury/architecture.md; docs/jury/deployment.md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4:40–5:15. Это свежие локальные проверки версии кода, а не сумма всех исторических отчётов. Backend: 139, из них 4 опциональных пропущены; frontend 77, OCR 38, assistant 79 и 2 пропущены. Unit/contract tests AI используют управляемые двойники. Настоящие Tesseract/Qwen и retrieval проверялись отдельными probes, условия приведены в документации. Производительность серверной VM и качество на банковских данных не заявляются.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docs/jury/verification.md; backend/**/target/surefire-reports; reports/local-qwen3b/validation.json; reports/local-qwen3b/ocr-validation.json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5:15–5:55. Развитие начинается с пилота, доступа и управляемого процесса сотрудника. Затем подключаются банковские проверки, договоры и выдача. Надёжность и масштабирование проверяются учениями и нагрузкой. ML требует разрешённых данных и независимой валидации. Эти компоненты запланированы, а не представлены как уже работающие.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docs/jury/bank-roadmap.md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5:55–6:20. Сервис и исходный код доступны по ссылкам и QR-кодам. На ngrok при первом визите нажмите Visit Site. Две учётные записи предназначены исключительно для синтетической демонстрации, публикация согласована владельцем. Версия к сдаче закреплена тегом. В README есть запуск, проверочные данные и все архитектурные материалы.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docs/jury/demo-access.json; docs/jury/demo.md;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9884488df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90b73e56e46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9b3c8d0104b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6e416d4f64d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28de5888c4c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a945861d44e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0DEE5-BD74-4A89-8053-5C1EF29AA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D6B358-9F97-457C-ABBC-56A15FB920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F7E414-E10D-461B-964A-1127F54FD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7ECDFA-52A4-4904-8C6D-165AD0674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F73FFE-09DD-4A00-8A44-BD2C3368A3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9F0F10-CE50-4722-AD04-8EA90451F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C4BA17-ADBD-460D-BBE7-4BF98B01F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323C60-3969-4115-8AEA-9D325ABAB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8A161B-3446-413B-B5CA-FBCD6D1129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8C1CF-3B3D-4024-BF01-F894345447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f7796e7da84bc3" /><Relationship Type="http://schemas.openxmlformats.org/officeDocument/2006/relationships/slideLayout" Target="/ppt/slideLayouts/slideLayout1.xml" Id="R0a6a146def6749fb" /><Relationship Type="http://schemas.openxmlformats.org/officeDocument/2006/relationships/slideLayout" Target="/ppt/slideLayouts/slideLayout2.xml" Id="R86720c7d02114596" /><Relationship Type="http://schemas.openxmlformats.org/officeDocument/2006/relationships/slideLayout" Target="/ppt/slideLayouts/slideLayout3.xml" Id="Rb2a53fe3919c4665" /><Relationship Type="http://schemas.openxmlformats.org/officeDocument/2006/relationships/slideLayout" Target="/ppt/slideLayouts/slideLayout4.xml" Id="Rceeb6d9fda624940" /><Relationship Type="http://schemas.openxmlformats.org/officeDocument/2006/relationships/slideLayout" Target="/ppt/slideLayouts/slideLayout5.xml" Id="R03c1f8459bea412d" /><Relationship Type="http://schemas.openxmlformats.org/officeDocument/2006/relationships/slideLayout" Target="/ppt/slideLayouts/slideLayout6.xml" Id="R8b9293a65919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a146def6749fb"/>
    <p:sldLayoutId xmlns:r="http://schemas.openxmlformats.org/officeDocument/2006/relationships" id="2147483650" r:id="R86720c7d02114596"/>
    <p:sldLayoutId xmlns:r="http://schemas.openxmlformats.org/officeDocument/2006/relationships" id="2147483651" r:id="Rb2a53fe3919c4665"/>
    <p:sldLayoutId xmlns:r="http://schemas.openxmlformats.org/officeDocument/2006/relationships" id="2147483652" r:id="Rceeb6d9fda624940"/>
    <p:sldLayoutId xmlns:r="http://schemas.openxmlformats.org/officeDocument/2006/relationships" id="2147483653" r:id="R03c1f8459bea412d"/>
    <p:sldLayoutId xmlns:r="http://schemas.openxmlformats.org/officeDocument/2006/relationships" id="2147483654" r:id="R8b9293a65919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ce4f1b805488f" /><Relationship Type="http://schemas.openxmlformats.org/officeDocument/2006/relationships/notesSlide" Target="/ppt/notesSlides/notesSlide1.xml" Id="Rdec5a7c88c7947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c93826e194b82" /><Relationship Type="http://schemas.openxmlformats.org/officeDocument/2006/relationships/notesSlide" Target="/ppt/notesSlides/notesSlide2.xml" Id="R21484b0ea11a47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27d3fd12d4cc4" /><Relationship Type="http://schemas.openxmlformats.org/officeDocument/2006/relationships/notesSlide" Target="/ppt/notesSlides/notesSlide3.xml" Id="R608a0f8a2b26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bed18cee24bfa" /><Relationship Type="http://schemas.openxmlformats.org/officeDocument/2006/relationships/notesSlide" Target="/ppt/notesSlides/notesSlide4.xml" Id="R552133374f6a4f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d9fb94e9e401f" /><Relationship Type="http://schemas.openxmlformats.org/officeDocument/2006/relationships/image" Target="/ppt/media/image.jpeg" Id="R2546e457df3346a2" /><Relationship Type="http://schemas.openxmlformats.org/officeDocument/2006/relationships/notesSlide" Target="/ppt/notesSlides/notesSlide5.xml" Id="Rbbde7326bb4e4d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99d00a24a4306" /><Relationship Type="http://schemas.openxmlformats.org/officeDocument/2006/relationships/notesSlide" Target="/ppt/notesSlides/notesSlide6.xml" Id="R30015020057142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318869a2a42ce" /><Relationship Type="http://schemas.openxmlformats.org/officeDocument/2006/relationships/image" Target="/ppt/media/image2.jpeg" Id="R79c9d4e36c524822" /><Relationship Type="http://schemas.openxmlformats.org/officeDocument/2006/relationships/notesSlide" Target="/ppt/notesSlides/notesSlide7.xml" Id="R2f6d840035bd40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57210f7194fc2" /><Relationship Type="http://schemas.openxmlformats.org/officeDocument/2006/relationships/notesSlide" Target="/ppt/notesSlides/notesSlide8.xml" Id="R3694548b4df542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c039fa67f4e76" /><Relationship Type="http://schemas.openxmlformats.org/officeDocument/2006/relationships/notesSlide" Target="/ppt/notesSlides/notesSlide9.xml" Id="Rb9c651d0075442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b2c2975934fac" /><Relationship Type="http://schemas.openxmlformats.org/officeDocument/2006/relationships/notesSlide" Target="/ppt/notesSlides/notesSlide10.xml" Id="R44ce69a23cc74d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3ad72d3c44b8f" /><Relationship Type="http://schemas.openxmlformats.org/officeDocument/2006/relationships/notesSlide" Target="/ppt/notesSlides/notesSlide11.xml" Id="R048f82ced0624790" /></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4c956a1f47f4180" /><ns0:Relationship Type="http://schemas.openxmlformats.org/officeDocument/2006/relationships/image" Target="/ppt/media/image.png" Id="R572815b02c4f433d" /><ns0:Relationship Type="http://schemas.openxmlformats.org/officeDocument/2006/relationships/image" Target="/ppt/media/image2.png" Id="Rc3d3978da710454d" /><ns0:Relationship Type="http://schemas.openxmlformats.org/officeDocument/2006/relationships/notesSlide" Target="/ppt/notesSlides/notesSlide12.xml" Id="Re209a85593044f2a" /><ns0:Relationship Id="rIdJuryDemo" Type="http://schemas.openxmlformats.org/officeDocument/2006/relationships/hyperlink" Target="https://president-diameter-endearing.ngrok-free.dev" TargetMode="External" /><ns0:Relationship Id="rIdJuryRepo" Type="http://schemas.openxmlformats.org/officeDocument/2006/relationships/hyperlink" Target="https://github.com/Tonitrus1/ALFA-HACK-2026" TargetMode="External" /><ns0:Relationship Id="rIdJuryTag" Type="http://schemas.openxmlformats.org/officeDocument/2006/relationships/hyperlink" Target="https://github.com/Tonitrus1/ALFA-HACK-2026/tree/submission-2026-10-26" TargetMode="External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2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419B4255-0577-4FA0-82E9-534A58EB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EC17AA3-A378-4557-8EAF-DD23724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оток">
            <a:extLst xmlns:a="http://schemas.openxmlformats.org/drawingml/2006/main">
              <a:ext uri="{FF2B5EF4-FFF2-40B4-BE49-F238E27FC236}">
                <a16:creationId xmlns:a16="http://schemas.microsoft.com/office/drawing/2014/main" id="{BF544136-E903-41E8-93BC-2E37E153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00" b="1">
                <a:solidFill>
                  <a:srgbClr val="FFFFFF"/>
                </a:solidFill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Поток</a:t>
            </a:r>
          </a:p>
        </p:txBody>
      </p:sp>
      <p:sp>
        <p:nvSpPr>
          <p:cNvPr id="5" name="Умный кредитный кабинет">
            <a:extLst xmlns:a="http://schemas.openxmlformats.org/drawingml/2006/main">
              <a:ext uri="{FF2B5EF4-FFF2-40B4-BE49-F238E27FC236}">
                <a16:creationId xmlns:a16="http://schemas.microsoft.com/office/drawing/2014/main" id="{EDC8A5EE-B5BD-4AD0-A755-CFE1070A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Умный кредитный кабинет</a:t>
            </a:r>
          </a:p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предпринимателя</a:t>
            </a:r>
          </a:p>
        </p:txBody>
      </p:sp>
      <p:sp>
        <p:nvSpPr>
          <p:cNvPr id="6" name="Gambit_Yvaga">
            <a:extLst xmlns:a="http://schemas.openxmlformats.org/drawingml/2006/main">
              <a:ext uri="{FF2B5EF4-FFF2-40B4-BE49-F238E27FC236}">
                <a16:creationId xmlns:a16="http://schemas.microsoft.com/office/drawing/2014/main" id="{C2162152-AD1A-4FE1-BC72-88060F78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Gambit_Yvaga</a:t>
            </a:r>
          </a:p>
        </p:txBody>
      </p:sp>
      <p:sp>
        <p:nvSpPr>
          <p:cNvPr id="7" name="Альфа Хак 2026">
            <a:extLst xmlns:a="http://schemas.openxmlformats.org/drawingml/2006/main">
              <a:ext uri="{FF2B5EF4-FFF2-40B4-BE49-F238E27FC236}">
                <a16:creationId xmlns:a16="http://schemas.microsoft.com/office/drawing/2014/main" id="{A7BC7B8B-232C-46E1-91ED-8825D97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Альфа Хак 2026</a:t>
            </a:r>
          </a:p>
        </p:txBody>
      </p:sp>
    </p:spTree>
    <p:extLst>
      <p:ext uri="{BB962C8B-B14F-4D97-AF65-F5344CB8AC3E}">
        <p14:creationId xmlns:p14="http://schemas.microsoft.com/office/powerpoint/2010/main" val="819781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Кредитная заявка требует общего контекста">
            <a:extLst xmlns:a="http://schemas.openxmlformats.org/drawingml/2006/main">
              <a:ext uri="{FF2B5EF4-FFF2-40B4-BE49-F238E27FC236}">
                <a16:creationId xmlns:a16="http://schemas.microsoft.com/office/drawing/2014/main" id="{405F31C6-AFA1-4C7A-979B-45E22A3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Кредитная заявка требует общего контекста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A117A929-25C9-46ED-9218-2FF640F4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21604EFC-DA47-499A-A39A-D2621C9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Предприниматель">
            <a:extLst xmlns:a="http://schemas.openxmlformats.org/drawingml/2006/main">
              <a:ext uri="{FF2B5EF4-FFF2-40B4-BE49-F238E27FC236}">
                <a16:creationId xmlns:a16="http://schemas.microsoft.com/office/drawing/2014/main" id="{041A9278-7911-4BBB-9514-1E28177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2B22"/>
                </a:solidFill>
              </a:defRPr>
            </a:pPr>
            <a:r>
              <a:rPr sz="25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Предприниматель</a:t>
            </a:r>
          </a:p>
        </p:txBody>
      </p:sp>
      <p:sp>
        <p:nvSpPr>
          <p:cNvPr id="6" name="Как выбрать продукт?">
            <a:extLst xmlns:a="http://schemas.openxmlformats.org/drawingml/2006/main">
              <a:ext uri="{FF2B5EF4-FFF2-40B4-BE49-F238E27FC236}">
                <a16:creationId xmlns:a16="http://schemas.microsoft.com/office/drawing/2014/main" id="{CDC5ADDD-DDC5-4636-87B0-C53C5A77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Как выбрать продукт?</a:t>
            </a:r>
          </a:p>
          <a:p xmlns:a="http://schemas.openxmlformats.org/drawingml/2006/main">
            <a:pPr algn="l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Какие данные подготовить?</a:t>
            </a:r>
          </a:p>
          <a:p xmlns:a="http://schemas.openxmlformats.org/drawingml/2006/main">
            <a:pPr algn="l"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делать после подачи?</a:t>
            </a:r>
          </a:p>
        </p:txBody>
      </p:sp>
      <p:sp>
        <p:nvSpPr>
          <p:cNvPr id="7" name="Банк">
            <a:extLst xmlns:a="http://schemas.openxmlformats.org/drawingml/2006/main">
              <a:ext uri="{FF2B5EF4-FFF2-40B4-BE49-F238E27FC236}">
                <a16:creationId xmlns:a16="http://schemas.microsoft.com/office/drawing/2014/main" id="{78FF08F3-7994-4644-8866-D5CB8E8A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2B22"/>
                </a:solidFill>
              </a:defRPr>
            </a:pPr>
            <a:r>
              <a:rPr sz="25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Банк</a:t>
            </a:r>
          </a:p>
        </p:txBody>
      </p:sp>
      <p:sp>
        <p:nvSpPr>
          <p:cNvPr id="8" name="Собрать данные в одном деле">
            <a:extLst xmlns:a="http://schemas.openxmlformats.org/drawingml/2006/main">
              <a:ext uri="{FF2B5EF4-FFF2-40B4-BE49-F238E27FC236}">
                <a16:creationId xmlns:a16="http://schemas.microsoft.com/office/drawing/2014/main" id="{56397753-F456-47C8-8AC9-E887D6B0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Собрать данные в одном деле</a:t>
            </a:r>
          </a:p>
          <a:p xmlns:a="http://schemas.openxmlformats.org/drawingml/2006/main">
            <a:pPr algn="l">
              <a:defRPr sz="225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Согласовать проверки и правила</a:t>
            </a:r>
          </a:p>
          <a:p xmlns:a="http://schemas.openxmlformats.org/drawingml/2006/main">
            <a:pPr algn="l">
              <a:defRPr sz="225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Объяснить следующий шаг</a:t>
            </a:r>
          </a:p>
        </p:txBody>
      </p:sp>
      <p:sp>
        <p:nvSpPr>
          <p:cNvPr id="9" name="Продуктовая гипотеза: единый кабинет уменьшает разрывы между эта">
            <a:extLst xmlns:a="http://schemas.openxmlformats.org/drawingml/2006/main">
              <a:ext uri="{FF2B5EF4-FFF2-40B4-BE49-F238E27FC236}">
                <a16:creationId xmlns:a16="http://schemas.microsoft.com/office/drawing/2014/main" id="{29D8764C-9670-4326-B3D3-4C5E4379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262"/>
                </a:solidFill>
              </a:defRPr>
            </a:pPr>
            <a:r>
              <a:rPr sz="19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Продуктовая гипотеза: единый кабинет уменьшает разрывы между этапами</a:t>
            </a:r>
          </a:p>
        </p:txBody>
      </p:sp>
    </p:spTree>
    <p:extLst>
      <p:ext uri="{BB962C8B-B14F-4D97-AF65-F5344CB8AC3E}">
        <p14:creationId xmlns:p14="http://schemas.microsoft.com/office/powerpoint/2010/main" val="458328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2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Один продукт для клиента и рассмотрения">
            <a:extLst xmlns:a="http://schemas.openxmlformats.org/drawingml/2006/main">
              <a:ext uri="{FF2B5EF4-FFF2-40B4-BE49-F238E27FC236}">
                <a16:creationId xmlns:a16="http://schemas.microsoft.com/office/drawing/2014/main" id="{B8AA2087-EBD4-4E7E-8E0A-8165770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продукт для клиента и рассмотрения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16C1A633-6113-45C6-86B0-52ACD26C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A2ED0C3D-1499-4BA7-8FBD-2E9B51E1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Для клиента">
            <a:extLst xmlns:a="http://schemas.openxmlformats.org/drawingml/2006/main">
              <a:ext uri="{FF2B5EF4-FFF2-40B4-BE49-F238E27FC236}">
                <a16:creationId xmlns:a16="http://schemas.microsoft.com/office/drawing/2014/main" id="{06DDD853-0916-4583-A69D-F134A20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клиента</a:t>
            </a:r>
          </a:p>
        </p:txBody>
      </p:sp>
      <p:sp>
        <p:nvSpPr>
          <p:cNvPr id="6" name="Понятные этапы">
            <a:extLst xmlns:a="http://schemas.openxmlformats.org/drawingml/2006/main">
              <a:ext uri="{FF2B5EF4-FFF2-40B4-BE49-F238E27FC236}">
                <a16:creationId xmlns:a16="http://schemas.microsoft.com/office/drawing/2014/main" id="{A7A3F1C1-E4E4-4B83-972A-9E077110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Понятные этапы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Сохранённые данные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Следующее действие</a:t>
            </a:r>
          </a:p>
        </p:txBody>
      </p:sp>
      <p:sp>
        <p:nvSpPr>
          <p:cNvPr id="7" name="Для банка">
            <a:extLst xmlns:a="http://schemas.openxmlformats.org/drawingml/2006/main">
              <a:ext uri="{FF2B5EF4-FFF2-40B4-BE49-F238E27FC236}">
                <a16:creationId xmlns:a16="http://schemas.microsoft.com/office/drawing/2014/main" id="{4C080B2B-8401-45EA-A2D5-1F99A3CE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банка</a:t>
            </a:r>
          </a:p>
        </p:txBody>
      </p:sp>
      <p:sp>
        <p:nvSpPr>
          <p:cNvPr id="8" name="Версии и снимки">
            <a:extLst xmlns:a="http://schemas.openxmlformats.org/drawingml/2006/main">
              <a:ext uri="{FF2B5EF4-FFF2-40B4-BE49-F238E27FC236}">
                <a16:creationId xmlns:a16="http://schemas.microsoft.com/office/drawing/2014/main" id="{43F3C457-AD1C-4AE7-A510-0E4437D0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Версии и снимки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Отдельные риск и политика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Контролируемые переходы</a:t>
            </a:r>
          </a:p>
        </p:txBody>
      </p:sp>
      <p:sp>
        <p:nvSpPr>
          <p:cNvPr id="9" name="Документы, персональная лента и помощник сопровождают основной п">
            <a:extLst xmlns:a="http://schemas.openxmlformats.org/drawingml/2006/main">
              <a:ext uri="{FF2B5EF4-FFF2-40B4-BE49-F238E27FC236}">
                <a16:creationId xmlns:a16="http://schemas.microsoft.com/office/drawing/2014/main" id="{AD7F291A-E345-48EA-AC92-CEDCAE4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Документы, персональная лента и помощник сопровождают основной путь</a:t>
            </a:r>
          </a:p>
        </p:txBody>
      </p:sp>
    </p:spTree>
    <p:extLst>
      <p:ext uri="{BB962C8B-B14F-4D97-AF65-F5344CB8AC3E}">
        <p14:creationId xmlns:p14="http://schemas.microsoft.com/office/powerpoint/2010/main" val="145220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7385E-3628-4371-86CC-1C7C7EAF63FA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771650" y="2752725"/>
            <a:ext cx="8572500" cy="1171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61D53-2E7B-4F85-A7BD-95DCEA57DE5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48700" y="43243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DF649-34D7-4C1B-8947-CF64B875ADB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48700" y="23526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46083-1FCC-4A9D-BD83-3A30DED8A35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91200" y="43243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B4612-430F-40D1-BD38-36B6D203573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91200" y="23526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F5C76-7CF8-4F51-9B83-5A8E1C0309C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933700" y="43243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D856C-A5D1-4FD2-8145-CCF96338E4C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33700" y="23526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9" name="Сквозной путь предпринимателя">
            <a:extLst xmlns:a="http://schemas.openxmlformats.org/drawingml/2006/main">
              <a:ext uri="{FF2B5EF4-FFF2-40B4-BE49-F238E27FC236}">
                <a16:creationId xmlns:a16="http://schemas.microsoft.com/office/drawing/2014/main" id="{93F142AA-93E0-4A1F-BF75-78089310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Сквозной путь предпринимателя</a:t>
            </a:r>
          </a:p>
        </p:txBody>
      </p:sp>
      <p:sp>
        <p:nvSpPr>
          <p:cNvPr id="10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5B020BB2-28A5-49B8-99EC-850BE256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6AFA56AA-990A-4958-8E17-1E0BA57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Потребность">
            <a:extLst xmlns:a="http://schemas.openxmlformats.org/drawingml/2006/main">
              <a:ext uri="{FF2B5EF4-FFF2-40B4-BE49-F238E27FC236}">
                <a16:creationId xmlns:a16="http://schemas.microsoft.com/office/drawing/2014/main" id="{70BF1CCC-743A-4101-84A1-5627C33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2B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Потребность</a:t>
            </a:r>
          </a:p>
        </p:txBody>
      </p:sp>
      <p:sp>
        <p:nvSpPr>
          <p:cNvPr id="13" name="Продукт">
            <a:extLst xmlns:a="http://schemas.openxmlformats.org/drawingml/2006/main">
              <a:ext uri="{FF2B5EF4-FFF2-40B4-BE49-F238E27FC236}">
                <a16:creationId xmlns:a16="http://schemas.microsoft.com/office/drawing/2014/main" id="{15A0608E-AC57-46C4-92F7-CB49057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14" name="Компания">
            <a:extLst xmlns:a="http://schemas.openxmlformats.org/drawingml/2006/main">
              <a:ext uri="{FF2B5EF4-FFF2-40B4-BE49-F238E27FC236}">
                <a16:creationId xmlns:a16="http://schemas.microsoft.com/office/drawing/2014/main" id="{DE0B7BF5-432A-4F77-B0B0-8EFAFA64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Компания</a:t>
            </a:r>
          </a:p>
        </p:txBody>
      </p:sp>
      <p:sp>
        <p:nvSpPr>
          <p:cNvPr id="15" name="Документы">
            <a:extLst xmlns:a="http://schemas.openxmlformats.org/drawingml/2006/main">
              <a:ext uri="{FF2B5EF4-FFF2-40B4-BE49-F238E27FC236}">
                <a16:creationId xmlns:a16="http://schemas.microsoft.com/office/drawing/2014/main" id="{16B1C0D5-07D2-477E-8E6E-E2AD8FD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6" name="Финансы">
            <a:extLst xmlns:a="http://schemas.openxmlformats.org/drawingml/2006/main">
              <a:ext uri="{FF2B5EF4-FFF2-40B4-BE49-F238E27FC236}">
                <a16:creationId xmlns:a16="http://schemas.microsoft.com/office/drawing/2014/main" id="{A3D8E60F-2642-48A2-9CF7-48B7B640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Финансы</a:t>
            </a:r>
          </a:p>
        </p:txBody>
      </p:sp>
      <p:sp>
        <p:nvSpPr>
          <p:cNvPr id="17" name="Рассмотрение">
            <a:extLst xmlns:a="http://schemas.openxmlformats.org/drawingml/2006/main">
              <a:ext uri="{FF2B5EF4-FFF2-40B4-BE49-F238E27FC236}">
                <a16:creationId xmlns:a16="http://schemas.microsoft.com/office/drawing/2014/main" id="{42B13501-CAD0-40EB-8D5E-9F20AEB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Рассмотрение</a:t>
            </a:r>
          </a:p>
        </p:txBody>
      </p:sp>
      <p:sp>
        <p:nvSpPr>
          <p:cNvPr id="18" name="Предложение">
            <a:extLst xmlns:a="http://schemas.openxmlformats.org/drawingml/2006/main">
              <a:ext uri="{FF2B5EF4-FFF2-40B4-BE49-F238E27FC236}">
                <a16:creationId xmlns:a16="http://schemas.microsoft.com/office/drawing/2014/main" id="{48645027-5089-40E7-A215-7A4DE8F3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19" name="Демооформление">
            <a:extLst xmlns:a="http://schemas.openxmlformats.org/drawingml/2006/main">
              <a:ext uri="{FF2B5EF4-FFF2-40B4-BE49-F238E27FC236}">
                <a16:creationId xmlns:a16="http://schemas.microsoft.com/office/drawing/2014/main" id="{36B80008-333F-4E3C-A330-08912EF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2B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Демооформление</a:t>
            </a:r>
          </a:p>
        </p:txBody>
      </p:sp>
      <p:sp>
        <p:nvSpPr>
          <p:cNvPr id="20" name="Уточнение возвращает заявку на рассмотрение с новой подтверждённ">
            <a:extLst xmlns:a="http://schemas.openxmlformats.org/drawingml/2006/main">
              <a:ext uri="{FF2B5EF4-FFF2-40B4-BE49-F238E27FC236}">
                <a16:creationId xmlns:a16="http://schemas.microsoft.com/office/drawing/2014/main" id="{F0DF3631-9EC9-4859-8F2F-EE9E8F77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262"/>
                </a:solidFill>
              </a:defRPr>
            </a:pPr>
            <a:r>
              <a:rPr sz="19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Уточнение возвращает заявку на рассмотрение с новой подтверждённой версией данных</a:t>
            </a:r>
          </a:p>
        </p:txBody>
      </p:sp>
    </p:spTree>
    <p:extLst>
      <p:ext uri="{BB962C8B-B14F-4D97-AF65-F5344CB8AC3E}">
        <p14:creationId xmlns:p14="http://schemas.microsoft.com/office/powerpoint/2010/main" val="1713867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Работаю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1670CFCD-0ADE-4BA6-BEEE-5BC5DE1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Работающий кабинет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B707482B-F559-46E4-89BF-456EFEB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B5195044-3293-48FF-A749-492FCAA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96874-40C0-42F2-8A82-72236EF2BD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6e457df3346a2"/>
          <a:stretch xmlns:a="http://schemas.openxmlformats.org/drawingml/2006/main"/>
        </p:blipFill>
        <p:spPr>
          <a:xfrm xmlns:a="http://schemas.openxmlformats.org/drawingml/2006/main">
            <a:off x="611717" y="1600200"/>
            <a:ext cx="7806267" cy="4391025"/>
          </a:xfrm>
          <a:prstGeom xmlns:a="http://schemas.openxmlformats.org/drawingml/2006/main" prst="rect">
            <a:avLst/>
          </a:prstGeom>
        </p:spPr>
      </p:pic>
      <p:sp>
        <p:nvSpPr>
          <p:cNvPr id="6" name="Статус заявки">
            <a:extLst xmlns:a="http://schemas.openxmlformats.org/drawingml/2006/main">
              <a:ext uri="{FF2B5EF4-FFF2-40B4-BE49-F238E27FC236}">
                <a16:creationId xmlns:a16="http://schemas.microsoft.com/office/drawing/2014/main" id="{ABFDE07B-D38B-48CD-A93E-AC25294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2B22"/>
                </a:solidFill>
              </a:defRPr>
            </a:pPr>
            <a:r>
              <a:rPr sz="22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Статус заявки</a:t>
            </a:r>
          </a:p>
        </p:txBody>
      </p:sp>
      <p:sp>
        <p:nvSpPr>
          <p:cNvPr id="7" name="Сохранённый черновик">
            <a:extLst xmlns:a="http://schemas.openxmlformats.org/drawingml/2006/main">
              <a:ext uri="{FF2B5EF4-FFF2-40B4-BE49-F238E27FC236}">
                <a16:creationId xmlns:a16="http://schemas.microsoft.com/office/drawing/2014/main" id="{4563F873-18C0-40F4-95BD-2896134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Сохранённый черновик</a:t>
            </a:r>
          </a:p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 следующий шаг</a:t>
            </a:r>
          </a:p>
        </p:txBody>
      </p:sp>
      <p:sp>
        <p:nvSpPr>
          <p:cNvPr id="8" name="Персональная лента">
            <a:extLst xmlns:a="http://schemas.openxmlformats.org/drawingml/2006/main">
              <a:ext uri="{FF2B5EF4-FFF2-40B4-BE49-F238E27FC236}">
                <a16:creationId xmlns:a16="http://schemas.microsoft.com/office/drawing/2014/main" id="{551D631A-CCF9-4953-B784-51F483D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67125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2B22"/>
                </a:solidFill>
              </a:defRPr>
            </a:pPr>
            <a:r>
              <a:rPr sz="22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Персональная лента</a:t>
            </a:r>
          </a:p>
        </p:txBody>
      </p:sp>
      <p:sp>
        <p:nvSpPr>
          <p:cNvPr id="9" name="Материалы по интересам">
            <a:extLst xmlns:a="http://schemas.openxmlformats.org/drawingml/2006/main">
              <a:ext uri="{FF2B5EF4-FFF2-40B4-BE49-F238E27FC236}">
                <a16:creationId xmlns:a16="http://schemas.microsoft.com/office/drawing/2014/main" id="{A740A318-26AB-4943-915F-06C05D0A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01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Материалы по интересам</a:t>
            </a:r>
          </a:p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 контексту бизнеса</a:t>
            </a:r>
          </a:p>
        </p:txBody>
      </p:sp>
    </p:spTree>
    <p:extLst>
      <p:ext uri="{BB962C8B-B14F-4D97-AF65-F5344CB8AC3E}">
        <p14:creationId xmlns:p14="http://schemas.microsoft.com/office/powerpoint/2010/main" val="1906843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62C04-D38F-4ED1-BD9E-7261671EC1E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48550" y="228600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77172-DF58-4BE0-A4FB-5C2E720F84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228600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4" name="Оценка риска и кредитное решение">
            <a:extLst xmlns:a="http://schemas.openxmlformats.org/drawingml/2006/main">
              <a:ext uri="{FF2B5EF4-FFF2-40B4-BE49-F238E27FC236}">
                <a16:creationId xmlns:a16="http://schemas.microsoft.com/office/drawing/2014/main" id="{D6A38E42-AFE0-42B8-9AFB-51AF227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Оценка риска и кредитное решение</a:t>
            </a:r>
          </a:p>
        </p:txBody>
      </p:sp>
      <p:sp>
        <p:nvSpPr>
          <p:cNvPr id="5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2D24DE76-291C-468E-B526-AA618BE4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C1C60D7E-79B1-4969-A3E5-FC7ECA65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Подтверждённые&#10;финансы">
            <a:extLst xmlns:a="http://schemas.openxmlformats.org/drawingml/2006/main">
              <a:ext uri="{FF2B5EF4-FFF2-40B4-BE49-F238E27FC236}">
                <a16:creationId xmlns:a16="http://schemas.microsoft.com/office/drawing/2014/main" id="{7C7886F8-2E6B-43F6-80A0-49584FD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Подтверждённые</a:t>
            </a:r>
          </a:p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финансы</a:t>
            </a:r>
          </a:p>
        </p:txBody>
      </p:sp>
      <p:sp>
        <p:nvSpPr>
          <p:cNvPr id="8" name="CatBoost Risk&#10;BANKRUPTCY_PROXY">
            <a:extLst xmlns:a="http://schemas.openxmlformats.org/drawingml/2006/main">
              <a:ext uri="{FF2B5EF4-FFF2-40B4-BE49-F238E27FC236}">
                <a16:creationId xmlns:a16="http://schemas.microsoft.com/office/drawing/2014/main" id="{1E071097-1FC5-408F-91B4-4B7AEA6D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0975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CatBoost Risk</a:t>
            </a:r>
          </a:p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BANKRUPTCY_PROXY</a:t>
            </a:r>
          </a:p>
        </p:txBody>
      </p:sp>
      <p:sp>
        <p:nvSpPr>
          <p:cNvPr id="9" name="Java&#10;DemoPolicyV1">
            <a:extLst xmlns:a="http://schemas.openxmlformats.org/drawingml/2006/main">
              <a:ext uri="{FF2B5EF4-FFF2-40B4-BE49-F238E27FC236}">
                <a16:creationId xmlns:a16="http://schemas.microsoft.com/office/drawing/2014/main" id="{78057C73-8653-4B71-89CC-53C4592E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2B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DemoPolicyV1</a:t>
            </a:r>
          </a:p>
        </p:txBody>
      </p:sp>
      <p:sp>
        <p:nvSpPr>
          <p:cNvPr id="10" name="Возможные результаты">
            <a:extLst xmlns:a="http://schemas.openxmlformats.org/drawingml/2006/main">
              <a:ext uri="{FF2B5EF4-FFF2-40B4-BE49-F238E27FC236}">
                <a16:creationId xmlns:a16="http://schemas.microsoft.com/office/drawing/2014/main" id="{F4A0F72F-772C-4792-A05A-E34EE87F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52B22"/>
                </a:solidFill>
              </a:defRPr>
            </a:pPr>
            <a:r>
              <a:rPr sz="240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Возможные результаты</a:t>
            </a:r>
          </a:p>
        </p:txBody>
      </p:sp>
      <p:sp>
        <p:nvSpPr>
          <p:cNvPr id="11" name="Одобрение">
            <a:extLst xmlns:a="http://schemas.openxmlformats.org/drawingml/2006/main">
              <a:ext uri="{FF2B5EF4-FFF2-40B4-BE49-F238E27FC236}">
                <a16:creationId xmlns:a16="http://schemas.microsoft.com/office/drawing/2014/main" id="{5A0441AB-C125-4D43-BBF8-7DA640D2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Одобрение</a:t>
            </a:r>
          </a:p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Альтернативные условия</a:t>
            </a:r>
          </a:p>
        </p:txBody>
      </p:sp>
      <p:sp>
        <p:nvSpPr>
          <p:cNvPr id="12" name="Уточнение данных">
            <a:extLst xmlns:a="http://schemas.openxmlformats.org/drawingml/2006/main">
              <a:ext uri="{FF2B5EF4-FFF2-40B4-BE49-F238E27FC236}">
                <a16:creationId xmlns:a16="http://schemas.microsoft.com/office/drawing/2014/main" id="{FD4B3FDD-C77A-4D7D-A2F8-8D834338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Уточнение данных</a:t>
            </a:r>
          </a:p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Отказ</a:t>
            </a:r>
          </a:p>
        </p:txBody>
      </p:sp>
      <p:sp>
        <p:nvSpPr>
          <p:cNvPr id="13" name="MANUAL">
            <a:extLst xmlns:a="http://schemas.openxmlformats.org/drawingml/2006/main">
              <a:ext uri="{FF2B5EF4-FFF2-40B4-BE49-F238E27FC236}">
                <a16:creationId xmlns:a16="http://schemas.microsoft.com/office/drawing/2014/main" id="{F9803F8B-18B6-449C-9915-AEDB09F7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MANUAL</a:t>
            </a:r>
          </a:p>
          <a:p xmlns:a="http://schemas.openxmlformats.org/drawingml/2006/main">
            <a:pPr algn="l"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Дополнительная проверка</a:t>
            </a:r>
          </a:p>
        </p:txBody>
      </p:sp>
      <p:sp>
        <p:nvSpPr>
          <p:cNvPr id="14" name="Искусственные правила и синтетическая модель. Рабочее место сотр">
            <a:extLst xmlns:a="http://schemas.openxmlformats.org/drawingml/2006/main">
              <a:ext uri="{FF2B5EF4-FFF2-40B4-BE49-F238E27FC236}">
                <a16:creationId xmlns:a16="http://schemas.microsoft.com/office/drawing/2014/main" id="{9252B5C4-6A00-4F37-B1CF-87B32B5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262"/>
                </a:solidFill>
              </a:defRPr>
            </a:pPr>
            <a:r>
              <a:rPr sz="15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Искусственные правила и синтетическая модель. Рабочее место сотрудника требует внедрения</a:t>
            </a:r>
          </a:p>
        </p:txBody>
      </p:sp>
    </p:spTree>
    <p:extLst>
      <p:ext uri="{BB962C8B-B14F-4D97-AF65-F5344CB8AC3E}">
        <p14:creationId xmlns:p14="http://schemas.microsoft.com/office/powerpoint/2010/main" val="191403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окументы и подтверждение финансов">
            <a:extLst xmlns:a="http://schemas.openxmlformats.org/drawingml/2006/main">
              <a:ext uri="{FF2B5EF4-FFF2-40B4-BE49-F238E27FC236}">
                <a16:creationId xmlns:a16="http://schemas.microsoft.com/office/drawing/2014/main" id="{A51F8F01-57F3-4A5A-ABC8-639AB894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Документы и подтверждение финансов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0B836C8E-625A-4070-AB84-31181B6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9BE7A91B-3B65-44F8-A996-73EE8478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3AEF4-603E-448A-B277-D43AB9F5CF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9d4e36c524822"/>
          <a:stretch xmlns:a="http://schemas.openxmlformats.org/drawingml/2006/main"/>
        </p:blipFill>
        <p:spPr>
          <a:xfrm xmlns:a="http://schemas.openxmlformats.org/drawingml/2006/main">
            <a:off x="609600" y="1696641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6" name="Карантин и ClamAV">
            <a:extLst xmlns:a="http://schemas.openxmlformats.org/drawingml/2006/main">
              <a:ext uri="{FF2B5EF4-FFF2-40B4-BE49-F238E27FC236}">
                <a16:creationId xmlns:a16="http://schemas.microsoft.com/office/drawing/2014/main" id="{AC222190-C783-40F0-B260-562FBB2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2B22"/>
                </a:solidFill>
              </a:defRPr>
            </a:pPr>
            <a:r>
              <a:rPr sz="22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Карантин и ClamAV</a:t>
            </a:r>
          </a:p>
        </p:txBody>
      </p:sp>
      <p:sp>
        <p:nvSpPr>
          <p:cNvPr id="7" name="Только CLEAN-версия">
            <a:extLst xmlns:a="http://schemas.openxmlformats.org/drawingml/2006/main">
              <a:ext uri="{FF2B5EF4-FFF2-40B4-BE49-F238E27FC236}">
                <a16:creationId xmlns:a16="http://schemas.microsoft.com/office/drawing/2014/main" id="{8A246F00-5228-4BEA-A950-B72A0AB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Только CLEAN-версия</a:t>
            </a:r>
          </a:p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поступает на распознавание</a:t>
            </a:r>
          </a:p>
        </p:txBody>
      </p:sp>
      <p:sp>
        <p:nvSpPr>
          <p:cNvPr id="8" name="Tesseract и LLM">
            <a:extLst xmlns:a="http://schemas.openxmlformats.org/drawingml/2006/main">
              <a:ext uri="{FF2B5EF4-FFF2-40B4-BE49-F238E27FC236}">
                <a16:creationId xmlns:a16="http://schemas.microsoft.com/office/drawing/2014/main" id="{2C7695D3-59C3-4F78-91D4-AB7E00D9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2B22"/>
                </a:solidFill>
              </a:defRPr>
            </a:pPr>
            <a:r>
              <a:rPr sz="22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Tesseract и LLM</a:t>
            </a:r>
          </a:p>
        </p:txBody>
      </p:sp>
      <p:sp>
        <p:nvSpPr>
          <p:cNvPr id="9" name="Поля с источником">
            <a:extLst xmlns:a="http://schemas.openxmlformats.org/drawingml/2006/main">
              <a:ext uri="{FF2B5EF4-FFF2-40B4-BE49-F238E27FC236}">
                <a16:creationId xmlns:a16="http://schemas.microsoft.com/office/drawing/2014/main" id="{D77C0790-232E-4E35-AFF0-4B40A44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95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Поля с источником</a:t>
            </a:r>
          </a:p>
          <a:p xmlns:a="http://schemas.openxmlformats.org/drawingml/2006/main"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 проверкой JSON Schema</a:t>
            </a:r>
          </a:p>
        </p:txBody>
      </p:sp>
      <p:sp>
        <p:nvSpPr>
          <p:cNvPr id="10" name="Пользователь сверяет найденное и подтверждает восемь показателей">
            <a:extLst xmlns:a="http://schemas.openxmlformats.org/drawingml/2006/main">
              <a:ext uri="{FF2B5EF4-FFF2-40B4-BE49-F238E27FC236}">
                <a16:creationId xmlns:a16="http://schemas.microsoft.com/office/drawing/2014/main" id="{283B32C3-2157-4AD5-BA48-C9CE7248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1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52B22"/>
                </a:solidFill>
              </a:defRPr>
            </a:pPr>
            <a:r>
              <a:rPr sz="210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Пользователь сверяет найденное и подтверждает восемь показателей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1727272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ерсональная лента и помощник">
            <a:extLst xmlns:a="http://schemas.openxmlformats.org/drawingml/2006/main">
              <a:ext uri="{FF2B5EF4-FFF2-40B4-BE49-F238E27FC236}">
                <a16:creationId xmlns:a16="http://schemas.microsoft.com/office/drawing/2014/main" id="{D57D983A-69FD-4D14-9151-0AA8020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Персональная лента и помощник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ABBE7A83-00FA-4144-B77A-1776D5AE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9FDB9B64-4A20-4017-B131-9381FD97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Лента E5">
            <a:extLst xmlns:a="http://schemas.openxmlformats.org/drawingml/2006/main">
              <a:ext uri="{FF2B5EF4-FFF2-40B4-BE49-F238E27FC236}">
                <a16:creationId xmlns:a16="http://schemas.microsoft.com/office/drawing/2014/main" id="{9A28FD34-6C0D-4793-A5C7-3AB9A3C5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2B22"/>
                </a:solidFill>
              </a:defRPr>
            </a:pPr>
            <a:r>
              <a:rPr sz="25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Лента E5</a:t>
            </a:r>
          </a:p>
        </p:txBody>
      </p:sp>
      <p:sp>
        <p:nvSpPr>
          <p:cNvPr id="6" name="Интересы и контекст компании">
            <a:extLst xmlns:a="http://schemas.openxmlformats.org/drawingml/2006/main">
              <a:ext uri="{FF2B5EF4-FFF2-40B4-BE49-F238E27FC236}">
                <a16:creationId xmlns:a16="http://schemas.microsoft.com/office/drawing/2014/main" id="{E4BFB3A6-A312-4815-BA98-7725F97B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1717"/>
                </a:solidFill>
              </a:defRPr>
            </a:pPr>
            <a:r>
              <a:rPr sz="21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Интересы и контекст компании</a:t>
            </a:r>
          </a:p>
          <a:p xmlns:a="http://schemas.openxmlformats.org/drawingml/2006/main">
            <a:pPr algn="l">
              <a:defRPr sz="2175" b="0">
                <a:solidFill>
                  <a:srgbClr val="171717"/>
                </a:solidFill>
              </a:defRPr>
            </a:pPr>
            <a:r>
              <a:rPr sz="21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Открытие статей и сохранение</a:t>
            </a:r>
          </a:p>
          <a:p xmlns:a="http://schemas.openxmlformats.org/drawingml/2006/main">
            <a:pPr algn="l">
              <a:defRPr sz="2175" b="0">
                <a:solidFill>
                  <a:srgbClr val="171717"/>
                </a:solidFill>
              </a:defRPr>
            </a:pPr>
            <a:r>
              <a:rPr sz="21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RULES при недоступности модели</a:t>
            </a:r>
          </a:p>
        </p:txBody>
      </p:sp>
      <p:sp>
        <p:nvSpPr>
          <p:cNvPr id="7" name="Ассистент RAG">
            <a:extLst xmlns:a="http://schemas.openxmlformats.org/drawingml/2006/main">
              <a:ext uri="{FF2B5EF4-FFF2-40B4-BE49-F238E27FC236}">
                <a16:creationId xmlns:a16="http://schemas.microsoft.com/office/drawing/2014/main" id="{61C05526-8918-4EB2-888B-B73420B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2B22"/>
                </a:solidFill>
              </a:defRPr>
            </a:pPr>
            <a:r>
              <a:rPr sz="25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Ассистент RAG</a:t>
            </a:r>
          </a:p>
        </p:txBody>
      </p:sp>
      <p:sp>
        <p:nvSpPr>
          <p:cNvPr id="8" name="E5 и BM25, индекс Qdrant">
            <a:extLst xmlns:a="http://schemas.openxmlformats.org/drawingml/2006/main">
              <a:ext uri="{FF2B5EF4-FFF2-40B4-BE49-F238E27FC236}">
                <a16:creationId xmlns:a16="http://schemas.microsoft.com/office/drawing/2014/main" id="{ACCE698C-8655-44EC-9F89-6669D806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E5 и BM25, индекс Qdrant</a:t>
            </a:r>
          </a:p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Контекст компании от backend</a:t>
            </a:r>
          </a:p>
          <a:p xmlns:a="http://schemas.openxmlformats.org/drawingml/2006/main"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Ответы с разрешёнными источниками</a:t>
            </a:r>
          </a:p>
        </p:txBody>
      </p:sp>
      <p:sp>
        <p:nvSpPr>
          <p:cNvPr id="9" name="Локальный профиль: Qwen2.5 3B без платного API">
            <a:extLst xmlns:a="http://schemas.openxmlformats.org/drawingml/2006/main">
              <a:ext uri="{FF2B5EF4-FFF2-40B4-BE49-F238E27FC236}">
                <a16:creationId xmlns:a16="http://schemas.microsoft.com/office/drawing/2014/main" id="{03DCC620-3D76-4DE2-8578-9E9EF777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Локальный профиль: Qwen2.5 3B без платного API</a:t>
            </a:r>
          </a:p>
        </p:txBody>
      </p:sp>
      <p:sp>
        <p:nvSpPr>
          <p:cNvPr id="10" name="На серверном демо подтверждён поиск. Генерация сейчас недоступна">
            <a:extLst xmlns:a="http://schemas.openxmlformats.org/drawingml/2006/main">
              <a:ext uri="{FF2B5EF4-FFF2-40B4-BE49-F238E27FC236}">
                <a16:creationId xmlns:a16="http://schemas.microsoft.com/office/drawing/2014/main" id="{B994C12B-16D7-4696-A694-5B0631D5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6262"/>
                </a:solidFill>
              </a:defRPr>
            </a:pPr>
            <a:r>
              <a:rPr sz="17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На серверном демо подтверждён поиск. Генерация сейчас недоступна</a:t>
            </a:r>
          </a:p>
        </p:txBody>
      </p:sp>
    </p:spTree>
    <p:extLst>
      <p:ext uri="{BB962C8B-B14F-4D97-AF65-F5344CB8AC3E}">
        <p14:creationId xmlns:p14="http://schemas.microsoft.com/office/powerpoint/2010/main" val="1447234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3DD79-522A-4330-A294-735A2460852A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7553325" y="4000500"/>
            <a:ext cx="28003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ED8B-2B14-4D98-A984-40F34951379F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991225" y="4000500"/>
            <a:ext cx="15621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55589-CD02-4CB1-B7EA-8D91E840701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353675" y="40005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CE58E-8284-479F-86BB-857389CE5EF0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991225" y="2381250"/>
            <a:ext cx="43624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FE8B-3B5E-4EA1-81EA-65FD1138356D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991225" y="23812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D6FC7-6B01-4A71-82CE-CD9C1EBA3BA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800225" y="4000500"/>
            <a:ext cx="29622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62D08-3E4C-4297-8FA7-217A67BA8B7C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00225" y="40005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66F8A-0A4A-4AF0-9B2B-047DC21685A7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800225" y="2381250"/>
            <a:ext cx="41910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3FAF3-EB8B-4732-8DA3-2774E4B9771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43775" y="2047875"/>
            <a:ext cx="1800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65A2E-6455-4A71-878C-572785821C0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90850" y="2047875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12" name="Фактическая архитектура MVP">
            <a:extLst xmlns:a="http://schemas.openxmlformats.org/drawingml/2006/main">
              <a:ext uri="{FF2B5EF4-FFF2-40B4-BE49-F238E27FC236}">
                <a16:creationId xmlns:a16="http://schemas.microsoft.com/office/drawing/2014/main" id="{114E89A6-E288-4190-B90A-F8578151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Фактическая архитектура MVP</a:t>
            </a:r>
          </a:p>
        </p:txBody>
      </p:sp>
      <p:sp>
        <p:nvSpPr>
          <p:cNvPr id="1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724405C0-8618-41A9-AE79-DF757C63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14" name="09">
            <a:extLst xmlns:a="http://schemas.openxmlformats.org/drawingml/2006/main">
              <a:ext uri="{FF2B5EF4-FFF2-40B4-BE49-F238E27FC236}">
                <a16:creationId xmlns:a16="http://schemas.microsoft.com/office/drawing/2014/main" id="{91891DD0-CF50-4C4A-BB5D-0E1C77B3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5" name="React / Nginx">
            <a:extLst xmlns:a="http://schemas.openxmlformats.org/drawingml/2006/main">
              <a:ext uri="{FF2B5EF4-FFF2-40B4-BE49-F238E27FC236}">
                <a16:creationId xmlns:a16="http://schemas.microsoft.com/office/drawing/2014/main" id="{AF820F3B-0DEB-4917-BF7D-83E8D7CC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React / Nginx</a:t>
            </a:r>
          </a:p>
        </p:txBody>
      </p:sp>
      <p:sp>
        <p:nvSpPr>
          <p:cNvPr id="16" name="Spring Boot">
            <a:extLst xmlns:a="http://schemas.openxmlformats.org/drawingml/2006/main">
              <a:ext uri="{FF2B5EF4-FFF2-40B4-BE49-F238E27FC236}">
                <a16:creationId xmlns:a16="http://schemas.microsoft.com/office/drawing/2014/main" id="{682DB61D-D268-43AF-ABAE-81494557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145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2B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7" name="PostgreSQL">
            <a:extLst xmlns:a="http://schemas.openxmlformats.org/drawingml/2006/main">
              <a:ext uri="{FF2B5EF4-FFF2-40B4-BE49-F238E27FC236}">
                <a16:creationId xmlns:a16="http://schemas.microsoft.com/office/drawing/2014/main" id="{8A3F74FE-3E16-40CA-A62F-C98635E5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41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ML bridge">
            <a:extLst xmlns:a="http://schemas.openxmlformats.org/drawingml/2006/main">
              <a:ext uri="{FF2B5EF4-FFF2-40B4-BE49-F238E27FC236}">
                <a16:creationId xmlns:a16="http://schemas.microsoft.com/office/drawing/2014/main" id="{964B5480-128B-435B-90B1-90CEF8CD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 bridge</a:t>
            </a:r>
          </a:p>
        </p:txBody>
      </p:sp>
      <p:sp>
        <p:nvSpPr>
          <p:cNvPr id="19" name="CatBoost Risk">
            <a:extLst xmlns:a="http://schemas.openxmlformats.org/drawingml/2006/main">
              <a:ext uri="{FF2B5EF4-FFF2-40B4-BE49-F238E27FC236}">
                <a16:creationId xmlns:a16="http://schemas.microsoft.com/office/drawing/2014/main" id="{7CAA0B61-E758-4298-AFA1-5E291783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CatBoost Risk</a:t>
            </a:r>
          </a:p>
        </p:txBody>
      </p:sp>
      <p:sp>
        <p:nvSpPr>
          <p:cNvPr id="20" name="E5 Feed">
            <a:extLst xmlns:a="http://schemas.openxmlformats.org/drawingml/2006/main">
              <a:ext uri="{FF2B5EF4-FFF2-40B4-BE49-F238E27FC236}">
                <a16:creationId xmlns:a16="http://schemas.microsoft.com/office/drawing/2014/main" id="{ACF6DD30-2466-48EF-ACA0-BEE8FA21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62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E5 Feed</a:t>
            </a:r>
          </a:p>
        </p:txBody>
      </p:sp>
      <p:sp>
        <p:nvSpPr>
          <p:cNvPr id="21" name="ClamAV / OCR">
            <a:extLst xmlns:a="http://schemas.openxmlformats.org/drawingml/2006/main">
              <a:ext uri="{FF2B5EF4-FFF2-40B4-BE49-F238E27FC236}">
                <a16:creationId xmlns:a16="http://schemas.microsoft.com/office/drawing/2014/main" id="{C83A0AA3-B1FE-4C0C-95A6-2575371D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ClamAV / OCR</a:t>
            </a:r>
          </a:p>
        </p:txBody>
      </p:sp>
      <p:sp>
        <p:nvSpPr>
          <p:cNvPr id="22" name="RAG-ассистент">
            <a:extLst xmlns:a="http://schemas.openxmlformats.org/drawingml/2006/main">
              <a:ext uri="{FF2B5EF4-FFF2-40B4-BE49-F238E27FC236}">
                <a16:creationId xmlns:a16="http://schemas.microsoft.com/office/drawing/2014/main" id="{6A76A261-E99C-4774-A072-CA3E4FE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41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RAG-ассистент</a:t>
            </a:r>
          </a:p>
        </p:txBody>
      </p:sp>
      <p:sp>
        <p:nvSpPr>
          <p:cNvPr id="23" name="Qdrant / SQLite">
            <a:extLst xmlns:a="http://schemas.openxmlformats.org/drawingml/2006/main">
              <a:ext uri="{FF2B5EF4-FFF2-40B4-BE49-F238E27FC236}">
                <a16:creationId xmlns:a16="http://schemas.microsoft.com/office/drawing/2014/main" id="{CE7353F5-9474-4786-A974-A8059435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241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Qdrant / SQLite</a:t>
            </a:r>
          </a:p>
        </p:txBody>
      </p:sp>
      <p:sp>
        <p:nvSpPr>
          <p:cNvPr id="24" name="LLM · Qwen local">
            <a:extLst xmlns:a="http://schemas.openxmlformats.org/drawingml/2006/main">
              <a:ext uri="{FF2B5EF4-FFF2-40B4-BE49-F238E27FC236}">
                <a16:creationId xmlns:a16="http://schemas.microsoft.com/office/drawing/2014/main" id="{D8106AAA-824A-4D4D-8899-7B8E4EB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2305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LLM · Qwen local</a:t>
            </a:r>
          </a:p>
        </p:txBody>
      </p:sp>
      <p:sp>
        <p:nvSpPr>
          <p:cNvPr id="25" name="Внешний доступ: сервер и ngrok. Redis / Kafka / S3 предусмотрены">
            <a:extLst xmlns:a="http://schemas.openxmlformats.org/drawingml/2006/main">
              <a:ext uri="{FF2B5EF4-FFF2-40B4-BE49-F238E27FC236}">
                <a16:creationId xmlns:a16="http://schemas.microsoft.com/office/drawing/2014/main" id="{247AAABE-E2EA-4158-AD3C-8E85881C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262"/>
                </a:solidFill>
              </a:defRPr>
            </a:pPr>
            <a:r>
              <a:rPr sz="16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Внешний доступ: сервер и ngrok. Redis / Kafka / S3 предусмотрены для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534550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оверки и границы MVP">
            <a:extLst xmlns:a="http://schemas.openxmlformats.org/drawingml/2006/main">
              <a:ext uri="{FF2B5EF4-FFF2-40B4-BE49-F238E27FC236}">
                <a16:creationId xmlns:a16="http://schemas.microsoft.com/office/drawing/2014/main" id="{941455D2-19DD-4E07-A979-7E4111B0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Проверки и границы MVP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DB8ECA0D-D595-401A-BB72-EA5C293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F03024AA-6384-4389-A8F1-D34230A0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77">
            <a:extLst xmlns:a="http://schemas.openxmlformats.org/drawingml/2006/main">
              <a:ext uri="{FF2B5EF4-FFF2-40B4-BE49-F238E27FC236}">
                <a16:creationId xmlns:a16="http://schemas.microsoft.com/office/drawing/2014/main" id="{64BB9820-30CE-4CB9-9336-932C84E1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6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52B22"/>
                </a:solidFill>
              </a:defRPr>
            </a:pPr>
            <a:r>
              <a:rPr sz="64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  <p:sp>
        <p:nvSpPr>
          <p:cNvPr id="6" name="Frontend">
            <a:extLst xmlns:a="http://schemas.openxmlformats.org/drawingml/2006/main">
              <a:ext uri="{FF2B5EF4-FFF2-40B4-BE49-F238E27FC236}">
                <a16:creationId xmlns:a16="http://schemas.microsoft.com/office/drawing/2014/main" id="{C5D23468-A1BB-46AC-8DBE-8C0A2B54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7" name="unit-тестов">
            <a:extLst xmlns:a="http://schemas.openxmlformats.org/drawingml/2006/main">
              <a:ext uri="{FF2B5EF4-FFF2-40B4-BE49-F238E27FC236}">
                <a16:creationId xmlns:a16="http://schemas.microsoft.com/office/drawing/2014/main" id="{690CAB61-9D52-4D32-860E-4D7E6B6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262"/>
                </a:solidFill>
              </a:defRPr>
            </a:pPr>
            <a:r>
              <a:rPr sz="16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unit-тестов</a:t>
            </a:r>
          </a:p>
        </p:txBody>
      </p:sp>
      <p:sp>
        <p:nvSpPr>
          <p:cNvPr id="8" name="139">
            <a:extLst xmlns:a="http://schemas.openxmlformats.org/drawingml/2006/main">
              <a:ext uri="{FF2B5EF4-FFF2-40B4-BE49-F238E27FC236}">
                <a16:creationId xmlns:a16="http://schemas.microsoft.com/office/drawing/2014/main" id="{A0F61FE4-41D0-4FCD-B3EB-F758E2B0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36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52B22"/>
                </a:solidFill>
              </a:defRPr>
            </a:pPr>
            <a:r>
              <a:rPr sz="64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139</a:t>
            </a:r>
          </a:p>
        </p:txBody>
      </p:sp>
      <p:sp>
        <p:nvSpPr>
          <p:cNvPr id="9" name="Backend">
            <a:extLst xmlns:a="http://schemas.openxmlformats.org/drawingml/2006/main">
              <a:ext uri="{FF2B5EF4-FFF2-40B4-BE49-F238E27FC236}">
                <a16:creationId xmlns:a16="http://schemas.microsoft.com/office/drawing/2014/main" id="{1477227E-B13E-43B8-B17E-F63290D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67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0" name="4 opt-in пропущены">
            <a:extLst xmlns:a="http://schemas.openxmlformats.org/drawingml/2006/main">
              <a:ext uri="{FF2B5EF4-FFF2-40B4-BE49-F238E27FC236}">
                <a16:creationId xmlns:a16="http://schemas.microsoft.com/office/drawing/2014/main" id="{98AD5985-86D2-4C72-8796-C5A68C55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004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262"/>
                </a:solidFill>
              </a:defRPr>
            </a:pPr>
            <a:r>
              <a:rPr sz="16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4 opt-in пропущены</a:t>
            </a:r>
          </a:p>
        </p:txBody>
      </p:sp>
      <p:sp>
        <p:nvSpPr>
          <p:cNvPr id="11" name="38">
            <a:extLst xmlns:a="http://schemas.openxmlformats.org/drawingml/2006/main">
              <a:ext uri="{FF2B5EF4-FFF2-40B4-BE49-F238E27FC236}">
                <a16:creationId xmlns:a16="http://schemas.microsoft.com/office/drawing/2014/main" id="{604540CC-7B1E-4C8A-8105-38348DA8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236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52B22"/>
                </a:solidFill>
              </a:defRPr>
            </a:pPr>
            <a:r>
              <a:rPr sz="64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2" name="OCR">
            <a:extLst xmlns:a="http://schemas.openxmlformats.org/drawingml/2006/main">
              <a:ext uri="{FF2B5EF4-FFF2-40B4-BE49-F238E27FC236}">
                <a16:creationId xmlns:a16="http://schemas.microsoft.com/office/drawing/2014/main" id="{AE7BCB2F-D765-454A-BBA0-76AE4A6F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OCR</a:t>
            </a:r>
          </a:p>
        </p:txBody>
      </p:sp>
      <p:sp>
        <p:nvSpPr>
          <p:cNvPr id="13" name="unit / contract">
            <a:extLst xmlns:a="http://schemas.openxmlformats.org/drawingml/2006/main">
              <a:ext uri="{FF2B5EF4-FFF2-40B4-BE49-F238E27FC236}">
                <a16:creationId xmlns:a16="http://schemas.microsoft.com/office/drawing/2014/main" id="{C7B1AA0E-0733-44E0-8848-53D6D01C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262"/>
                </a:solidFill>
              </a:defRPr>
            </a:pPr>
            <a:r>
              <a:rPr sz="16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unit / contract</a:t>
            </a:r>
          </a:p>
        </p:txBody>
      </p:sp>
      <p:sp>
        <p:nvSpPr>
          <p:cNvPr id="14" name="79">
            <a:extLst xmlns:a="http://schemas.openxmlformats.org/drawingml/2006/main">
              <a:ext uri="{FF2B5EF4-FFF2-40B4-BE49-F238E27FC236}">
                <a16:creationId xmlns:a16="http://schemas.microsoft.com/office/drawing/2014/main" id="{B7795A79-F3DE-45AD-8D60-418BB46D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236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52B22"/>
                </a:solidFill>
              </a:defRPr>
            </a:pPr>
            <a:r>
              <a:rPr sz="645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15" name="Ассистент">
            <a:extLst xmlns:a="http://schemas.openxmlformats.org/drawingml/2006/main">
              <a:ext uri="{FF2B5EF4-FFF2-40B4-BE49-F238E27FC236}">
                <a16:creationId xmlns:a16="http://schemas.microsoft.com/office/drawing/2014/main" id="{BBA3AB88-6D73-4AED-98F9-A03CEE2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Ассистент</a:t>
            </a:r>
          </a:p>
        </p:txBody>
      </p:sp>
      <p:sp>
        <p:nvSpPr>
          <p:cNvPr id="16" name="2 integration пропущены">
            <a:extLst xmlns:a="http://schemas.openxmlformats.org/drawingml/2006/main">
              <a:ext uri="{FF2B5EF4-FFF2-40B4-BE49-F238E27FC236}">
                <a16:creationId xmlns:a16="http://schemas.microsoft.com/office/drawing/2014/main" id="{5E055A58-C8D3-4A73-AC27-AE39AB5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004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262"/>
                </a:solidFill>
              </a:defRPr>
            </a:pPr>
            <a:r>
              <a:rPr sz="16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2 integration пропущены</a:t>
            </a:r>
          </a:p>
        </p:txBody>
      </p:sp>
      <p:sp>
        <p:nvSpPr>
          <p:cNvPr id="17" name="Сессии, CSRF, изоляция компаний, версии и идемпотентность">
            <a:extLst xmlns:a="http://schemas.openxmlformats.org/drawingml/2006/main">
              <a:ext uri="{FF2B5EF4-FFF2-40B4-BE49-F238E27FC236}">
                <a16:creationId xmlns:a16="http://schemas.microsoft.com/office/drawing/2014/main" id="{1C3D56F2-1DE9-4750-8C09-6DD921C8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Сессии, CSRF, изоляция компаний, версии и идемпотентность</a:t>
            </a:r>
          </a:p>
        </p:txBody>
      </p:sp>
      <p:sp>
        <p:nvSpPr>
          <p:cNvPr id="18" name="Реальные inference-пробы описаны отдельно. Банковская валидация ">
            <a:extLst xmlns:a="http://schemas.openxmlformats.org/drawingml/2006/main">
              <a:ext uri="{FF2B5EF4-FFF2-40B4-BE49-F238E27FC236}">
                <a16:creationId xmlns:a16="http://schemas.microsoft.com/office/drawing/2014/main" id="{9B0C59C0-0014-449B-B3D2-504BBAA5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6262"/>
                </a:solidFill>
              </a:defRPr>
            </a:pPr>
            <a:r>
              <a:rPr sz="17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Реальные inference-пробы описаны отдельно. Банковская валидация и нагрузочный тест требуют продолжения</a:t>
            </a:r>
          </a:p>
        </p:txBody>
      </p:sp>
    </p:spTree>
    <p:extLst>
      <p:ext uri="{BB962C8B-B14F-4D97-AF65-F5344CB8AC3E}">
        <p14:creationId xmlns:p14="http://schemas.microsoft.com/office/powerpoint/2010/main" val="17986348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2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ледующий этап: банковское внедрение">
            <a:extLst xmlns:a="http://schemas.openxmlformats.org/drawingml/2006/main">
              <a:ext uri="{FF2B5EF4-FFF2-40B4-BE49-F238E27FC236}">
                <a16:creationId xmlns:a16="http://schemas.microsoft.com/office/drawing/2014/main" id="{3E004C8F-AD93-462E-A04A-E66D4E9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этап: банковское внедрение</a:t>
            </a:r>
          </a:p>
        </p:txBody>
      </p:sp>
      <p:sp>
        <p:nvSpPr>
          <p:cNvPr id="3" name="Поток · Gambit_Yvaga">
            <a:extLst xmlns:a="http://schemas.openxmlformats.org/drawingml/2006/main">
              <a:ext uri="{FF2B5EF4-FFF2-40B4-BE49-F238E27FC236}">
                <a16:creationId xmlns:a16="http://schemas.microsoft.com/office/drawing/2014/main" id="{C8119EF5-09FC-4A98-A1DE-40A829B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95D97EB9-CD1A-478C-896E-3EAEDAC4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Банковский процесс">
            <a:extLst xmlns:a="http://schemas.openxmlformats.org/drawingml/2006/main">
              <a:ext uri="{FF2B5EF4-FFF2-40B4-BE49-F238E27FC236}">
                <a16:creationId xmlns:a16="http://schemas.microsoft.com/office/drawing/2014/main" id="{CEFCB52E-F72C-4F4E-B0A3-86D9CE8F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Банковский процесс</a:t>
            </a:r>
          </a:p>
        </p:txBody>
      </p:sp>
      <p:sp>
        <p:nvSpPr>
          <p:cNvPr id="6" name="SSO и роли">
            <a:extLst xmlns:a="http://schemas.openxmlformats.org/drawingml/2006/main">
              <a:ext uri="{FF2B5EF4-FFF2-40B4-BE49-F238E27FC236}">
                <a16:creationId xmlns:a16="http://schemas.microsoft.com/office/drawing/2014/main" id="{274D485B-BCEF-485E-A49C-28600B51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SSO и роли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Рабочее место сотрудника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БКИ / KYC / АБС / ЭП</a:t>
            </a:r>
          </a:p>
        </p:txBody>
      </p:sp>
      <p:sp>
        <p:nvSpPr>
          <p:cNvPr id="7" name="Надёжность">
            <a:extLst xmlns:a="http://schemas.openxmlformats.org/drawingml/2006/main">
              <a:ext uri="{FF2B5EF4-FFF2-40B4-BE49-F238E27FC236}">
                <a16:creationId xmlns:a16="http://schemas.microsoft.com/office/drawing/2014/main" id="{5535B530-0CFD-4D30-B0B6-256808B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Надёжность</a:t>
            </a:r>
          </a:p>
        </p:txBody>
      </p:sp>
      <p:sp>
        <p:nvSpPr>
          <p:cNvPr id="8" name="HA и восстановление">
            <a:extLst xmlns:a="http://schemas.openxmlformats.org/drawingml/2006/main">
              <a:ext uri="{FF2B5EF4-FFF2-40B4-BE49-F238E27FC236}">
                <a16:creationId xmlns:a16="http://schemas.microsoft.com/office/drawing/2014/main" id="{7FA3B47B-3AF9-4BBA-A84D-22F54396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 и восстановление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Объектное хранилище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Мониторинг и аудит</a:t>
            </a:r>
          </a:p>
        </p:txBody>
      </p:sp>
      <p:sp>
        <p:nvSpPr>
          <p:cNvPr id="9" name="Качество моделей">
            <a:extLst xmlns:a="http://schemas.openxmlformats.org/drawingml/2006/main">
              <a:ext uri="{FF2B5EF4-FFF2-40B4-BE49-F238E27FC236}">
                <a16:creationId xmlns:a16="http://schemas.microsoft.com/office/drawing/2014/main" id="{2BB72170-ADB4-44C9-85E4-D12B044E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 моделей</a:t>
            </a:r>
          </a:p>
        </p:txBody>
      </p:sp>
      <p:sp>
        <p:nvSpPr>
          <p:cNvPr id="10" name="Разрешённые данные">
            <a:extLst xmlns:a="http://schemas.openxmlformats.org/drawingml/2006/main">
              <a:ext uri="{FF2B5EF4-FFF2-40B4-BE49-F238E27FC236}">
                <a16:creationId xmlns:a16="http://schemas.microsoft.com/office/drawing/2014/main" id="{E15ACA3D-4D8D-42A1-9975-DE3D365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Разрешённые данные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Независимая валидация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Реестр и откат</a:t>
            </a:r>
          </a:p>
        </p:txBody>
      </p:sp>
      <p:sp>
        <p:nvSpPr>
          <p:cNvPr id="11" name="Целевая архитектура и критерии приёмки каждого шага описаны в ре">
            <a:extLst xmlns:a="http://schemas.openxmlformats.org/drawingml/2006/main">
              <a:ext uri="{FF2B5EF4-FFF2-40B4-BE49-F238E27FC236}">
                <a16:creationId xmlns:a16="http://schemas.microsoft.com/office/drawing/2014/main" id="{3FE1C36B-92A0-444A-83D5-1AC4C707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Целевая архитектура и критерии приёмки каждого шага описаны в репозитории</a:t>
            </a:r>
          </a:p>
        </p:txBody>
      </p:sp>
    </p:spTree>
    <p:extLst>
      <p:ext uri="{BB962C8B-B14F-4D97-AF65-F5344CB8AC3E}">
        <p14:creationId xmlns:p14="http://schemas.microsoft.com/office/powerpoint/2010/main" val="127358041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Демо и исходный код">
            <a:extLst>
              <a:ext uri="{FF2B5EF4-FFF2-40B4-BE49-F238E27FC236}">
                <ns2:creationId id="{174A647D-9992-4508-89C9-F524E733925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Демо и исходный код</a:t>
            </a:r>
          </a:p>
        </p:txBody>
      </p:sp>
      <p:sp>
        <p:nvSpPr>
          <p:cNvPr id="3" name="Поток · Gambit_Yvaga">
            <a:extLst>
              <a:ext uri="{FF2B5EF4-FFF2-40B4-BE49-F238E27FC236}">
                <ns2:creationId id="{4A07922F-6BF4-4DCD-9072-0FA45EF4965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Поток · Gambit_Yvaga</a:t>
            </a:r>
          </a:p>
        </p:txBody>
      </p:sp>
      <p:sp>
        <p:nvSpPr>
          <p:cNvPr id="4" name="12">
            <a:extLst>
              <a:ext uri="{FF2B5EF4-FFF2-40B4-BE49-F238E27FC236}">
                <ns2:creationId id="{7A321481-448E-484B-9043-E894BD6CD35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6096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626262"/>
                </a:solidFill>
              </a:defRPr>
            </a:pPr>
            <a:r>
              <a:rPr sz="12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5" name="">
            <a:extLst>
              <a:ext uri="{FF2B5EF4-FFF2-40B4-BE49-F238E27FC236}">
                <ns2:creationId id="{017781CA-904E-4F33-AFAC-65AE6FFAE959}"/>
              </a:ext>
            </a:extLst>
            <a:hlinkClick r:id="rIdJuryDemo"/>
          </p:cNvPr>
          <p:cNvPicPr>
            <a:picLocks noChangeAspect="1"/>
          </p:cNvPicPr>
          <p:nvPr/>
        </p:nvPicPr>
        <p:blipFill>
          <a:blip r:embed="R572815b02c4f433d"/>
          <a:stretch/>
        </p:blipFill>
        <p:spPr>
          <a:xfrm>
            <a:off x="609600" y="1562100"/>
            <a:ext cx="1562100" cy="1562100"/>
          </a:xfrm>
          <a:prstGeom prst="rect">
            <a:avLst/>
          </a:prstGeom>
        </p:spPr>
      </p:pic>
      <p:sp>
        <p:nvSpPr>
          <p:cNvPr id="6" name="Работающий сервис">
            <a:extLst>
              <a:ext uri="{FF2B5EF4-FFF2-40B4-BE49-F238E27FC236}">
                <ns2:creationId id="{03427124-D455-44CC-83C7-ABDE12A31927}"/>
              </a:ext>
            </a:extLst>
          </p:cNvPr>
          <p:cNvSpPr>
            <a:spLocks noGrp="1"/>
          </p:cNvSpPr>
          <p:nvPr/>
        </p:nvSpPr>
        <p:spPr>
          <a:xfrm>
            <a:off x="2552700" y="15811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1">
                <a:solidFill>
                  <a:srgbClr val="F52B22"/>
                </a:solidFill>
              </a:defRPr>
            </a:pPr>
            <a:r>
              <a:rPr sz="240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Работающий сервис</a:t>
            </a:r>
          </a:p>
        </p:txBody>
      </p:sp>
      <p:sp>
        <p:nvSpPr>
          <p:cNvPr id="7" name="https://president-diameter-endearing.ngrok-free.dev">
            <a:extLst>
              <a:ext uri="{FF2B5EF4-FFF2-40B4-BE49-F238E27FC236}">
                <ns2:creationId id="{7CDAD768-4307-44F6-9C6D-893CAC86DFDE}"/>
              </a:ext>
            </a:extLst>
          </p:cNvPr>
          <p:cNvSpPr>
            <a:spLocks noGrp="1"/>
          </p:cNvSpPr>
          <p:nvPr/>
        </p:nvSpPr>
        <p:spPr>
          <a:xfrm>
            <a:off x="2552700" y="2228850"/>
            <a:ext cx="8782050" cy="666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  <a:hlinkClick r:id="rIdJuryDemo"/>
              </a:rPr>
              <a:t>https://president-diameter-endearing.ngrok-free.dev</a:t>
            </a:r>
          </a:p>
        </p:txBody>
      </p:sp>
      <p:pic>
        <p:nvPicPr>
          <p:cNvPr id="8" name="">
            <a:extLst>
              <a:ext uri="{FF2B5EF4-FFF2-40B4-BE49-F238E27FC236}">
                <ns2:creationId id="{C64B2528-AE9B-43FE-BE51-F44CF3350941}"/>
              </a:ext>
            </a:extLst>
            <a:hlinkClick r:id="rIdJuryTag"/>
          </p:cNvPr>
          <p:cNvPicPr>
            <a:picLocks noChangeAspect="1"/>
          </p:cNvPicPr>
          <p:nvPr/>
        </p:nvPicPr>
        <p:blipFill>
          <a:blip r:embed="Rc3d3978da710454d"/>
          <a:stretch/>
        </p:blipFill>
        <p:spPr>
          <a:xfrm>
            <a:off x="609600" y="3429000"/>
            <a:ext cx="1562100" cy="1562100"/>
          </a:xfrm>
          <a:prstGeom prst="rect">
            <a:avLst/>
          </a:prstGeom>
        </p:spPr>
      </p:pic>
      <p:sp>
        <p:nvSpPr>
          <p:cNvPr id="9" name="Репозиторий и документация">
            <a:extLst>
              <a:ext uri="{FF2B5EF4-FFF2-40B4-BE49-F238E27FC236}">
                <ns2:creationId id="{AE66D564-02E1-41D3-967C-666BDF16885B}"/>
              </a:ext>
            </a:extLst>
          </p:cNvPr>
          <p:cNvSpPr>
            <a:spLocks noGrp="1"/>
          </p:cNvSpPr>
          <p:nvPr/>
        </p:nvSpPr>
        <p:spPr>
          <a:xfrm>
            <a:off x="2552700" y="34099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2B2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1">
                <a:solidFill>
                  <a:srgbClr val="F52B22"/>
                </a:solidFill>
              </a:defRPr>
            </a:pPr>
            <a:r>
              <a:rPr sz="2400" b="1">
                <a:solidFill>
                  <a:srgbClr val="F52B22"/>
                </a:solidFill>
                <a:latin typeface="Arial"/>
                <a:ea typeface="Arial"/>
                <a:cs typeface="Arial"/>
              </a:rPr>
              <a:t>Репозиторий и документация</a:t>
            </a:r>
          </a:p>
        </p:txBody>
      </p:sp>
      <p:sp>
        <p:nvSpPr>
          <p:cNvPr id="10" name="github.com/Tonitrus1/ALFA-HACK-2026">
            <a:extLst>
              <a:ext uri="{FF2B5EF4-FFF2-40B4-BE49-F238E27FC236}">
                <ns2:creationId id="{8FB69C96-BD6B-4B01-A808-4EBFAC071072}"/>
              </a:ext>
            </a:extLst>
          </p:cNvPr>
          <p:cNvSpPr>
            <a:spLocks noGrp="1"/>
          </p:cNvSpPr>
          <p:nvPr/>
        </p:nvSpPr>
        <p:spPr>
          <a:xfrm>
            <a:off x="2552700" y="4048125"/>
            <a:ext cx="8782050" cy="4191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  <a:hlinkClick r:id="rIdJuryRepo"/>
              </a:rPr>
              <a:t>github.com/Tonitrus1/ALFA-HACK-2026</a:t>
            </a:r>
          </a:p>
        </p:txBody>
      </p:sp>
      <p:sp>
        <p:nvSpPr>
          <p:cNvPr id="11" name="submission-2026-10-26">
            <a:extLst>
              <a:ext uri="{FF2B5EF4-FFF2-40B4-BE49-F238E27FC236}">
                <ns2:creationId id="{7648A101-FD3C-48E7-9621-6AC6F924924D}"/>
              </a:ext>
            </a:extLst>
          </p:cNvPr>
          <p:cNvSpPr>
            <a:spLocks noGrp="1"/>
          </p:cNvSpPr>
          <p:nvPr/>
        </p:nvSpPr>
        <p:spPr>
          <a:xfrm>
            <a:off x="2552700" y="4552950"/>
            <a:ext cx="878205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626262"/>
                </a:solidFill>
              </a:defRPr>
            </a:pPr>
            <a:r>
              <a:rPr sz="1650" b="0">
                <a:solidFill>
                  <a:srgbClr val="626262"/>
                </a:solidFill>
                <a:latin typeface="Arial"/>
                <a:ea typeface="Arial"/>
                <a:cs typeface="Arial"/>
                <a:hlinkClick r:id="rIdJuryTag"/>
              </a:rPr>
              <a:t>submission-2026-10-26</a:t>
            </a:r>
          </a:p>
        </p:txBody>
      </p:sp>
      <p:sp>
        <p:nvSpPr>
          <p:cNvPr id="12" name="company-a   xc-fWfKQYhasOO_xpEB4h3VFXHHA9HAv8YlunS2YM8VLvqJ4">
            <a:extLst>
              <a:ext uri="{FF2B5EF4-FFF2-40B4-BE49-F238E27FC236}">
                <ns2:creationId id="{FAE7D840-9B56-4E43-90FC-B1A453918570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34700" cy="3429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company-a   xc-fWfKQYhasOO_xpEB4h3VFXHHA9HAv8YlunS2YM8VLvqJ4</a:t>
            </a:r>
          </a:p>
        </p:txBody>
      </p:sp>
      <p:sp>
        <p:nvSpPr>
          <p:cNvPr id="13" name="company-b   5ykMqYlqwkXTGc8cqGKYDz8hwBeHT89LzPpDQL3l-ecI5MrJ">
            <a:extLst>
              <a:ext uri="{FF2B5EF4-FFF2-40B4-BE49-F238E27FC236}">
                <ns2:creationId id="{08FFC29E-A3FA-4F3F-8123-AF1A757B07BB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34700" cy="3429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company-b   5ykMqYlqwkXTGc8cqGKYDz8hwBeHT89LzPpDQL3l-ecI5MrJ</a:t>
            </a:r>
          </a:p>
        </p:txBody>
      </p:sp>
    </p:spTree>
    <p:extLst>
      <p:ext uri="{BB962C8B-B14F-4D97-AF65-F5344CB8AC3E}">
        <ns4:creationId val="209936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2026-10-26T11:30:33.9400000Z</dcterms:created>
  <dcterms:modified xsi:type="dcterms:W3CDTF">2026-10-26T11:30:33.9400000Z</dcterms:modified>
</coreProperties>
</file>